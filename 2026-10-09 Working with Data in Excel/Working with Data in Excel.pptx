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24"/>
  </p:notesMasterIdLst>
  <p:handoutMasterIdLst>
    <p:handoutMasterId r:id="rId25"/>
  </p:handoutMasterIdLst>
  <p:sldIdLst>
    <p:sldId id="264" r:id="rId2"/>
    <p:sldId id="298" r:id="rId3"/>
    <p:sldId id="299" r:id="rId4"/>
    <p:sldId id="357" r:id="rId5"/>
    <p:sldId id="272" r:id="rId6"/>
    <p:sldId id="267" r:id="rId7"/>
    <p:sldId id="268" r:id="rId8"/>
    <p:sldId id="263" r:id="rId9"/>
    <p:sldId id="358" r:id="rId10"/>
    <p:sldId id="271" r:id="rId11"/>
    <p:sldId id="307" r:id="rId12"/>
    <p:sldId id="359" r:id="rId13"/>
    <p:sldId id="301" r:id="rId14"/>
    <p:sldId id="302" r:id="rId15"/>
    <p:sldId id="303" r:id="rId16"/>
    <p:sldId id="304" r:id="rId17"/>
    <p:sldId id="273" r:id="rId18"/>
    <p:sldId id="274" r:id="rId19"/>
    <p:sldId id="270" r:id="rId20"/>
    <p:sldId id="300" r:id="rId21"/>
    <p:sldId id="353" r:id="rId22"/>
    <p:sldId id="35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002B"/>
    <a:srgbClr val="BA0C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182" autoAdjust="0"/>
  </p:normalViewPr>
  <p:slideViewPr>
    <p:cSldViewPr snapToGrid="0">
      <p:cViewPr varScale="1">
        <p:scale>
          <a:sx n="83" d="100"/>
          <a:sy n="83" d="100"/>
        </p:scale>
        <p:origin x="1674" y="84"/>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iko Bridwell" userId="0d8c6daf-78c4-42ff-97a7-dd086c6e026c" providerId="ADAL" clId="{5415DAD3-9AF0-46DC-A4E6-8437E905FDE1}"/>
    <pc:docChg chg="undo custSel addSld delSld modSld">
      <pc:chgData name="Keiko Bridwell" userId="0d8c6daf-78c4-42ff-97a7-dd086c6e026c" providerId="ADAL" clId="{5415DAD3-9AF0-46DC-A4E6-8437E905FDE1}" dt="2026-10-08T18:58:09.755" v="3298" actId="948"/>
      <pc:docMkLst>
        <pc:docMk/>
      </pc:docMkLst>
      <pc:sldChg chg="modSp add mod">
        <pc:chgData name="Keiko Bridwell" userId="0d8c6daf-78c4-42ff-97a7-dd086c6e026c" providerId="ADAL" clId="{5415DAD3-9AF0-46DC-A4E6-8437E905FDE1}" dt="2026-10-06T18:45:06.703" v="3217" actId="20577"/>
        <pc:sldMkLst>
          <pc:docMk/>
          <pc:sldMk cId="2070171235" sldId="263"/>
        </pc:sldMkLst>
        <pc:spChg chg="mod">
          <ac:chgData name="Keiko Bridwell" userId="0d8c6daf-78c4-42ff-97a7-dd086c6e026c" providerId="ADAL" clId="{5415DAD3-9AF0-46DC-A4E6-8437E905FDE1}" dt="2026-10-06T18:45:06.703" v="3217" actId="20577"/>
          <ac:spMkLst>
            <pc:docMk/>
            <pc:sldMk cId="2070171235" sldId="263"/>
            <ac:spMk id="3" creationId="{7D2F401E-6018-405F-80A6-0E942269AD0F}"/>
          </ac:spMkLst>
        </pc:spChg>
      </pc:sldChg>
      <pc:sldChg chg="modSp mod">
        <pc:chgData name="Keiko Bridwell" userId="0d8c6daf-78c4-42ff-97a7-dd086c6e026c" providerId="ADAL" clId="{5415DAD3-9AF0-46DC-A4E6-8437E905FDE1}" dt="2026-10-06T18:36:54.864" v="2985" actId="20577"/>
        <pc:sldMkLst>
          <pc:docMk/>
          <pc:sldMk cId="1195851839" sldId="264"/>
        </pc:sldMkLst>
        <pc:spChg chg="mod">
          <ac:chgData name="Keiko Bridwell" userId="0d8c6daf-78c4-42ff-97a7-dd086c6e026c" providerId="ADAL" clId="{5415DAD3-9AF0-46DC-A4E6-8437E905FDE1}" dt="2026-10-06T18:36:54.864" v="2985" actId="20577"/>
          <ac:spMkLst>
            <pc:docMk/>
            <pc:sldMk cId="1195851839" sldId="264"/>
            <ac:spMk id="2" creationId="{1DE54F89-A816-4B12-9807-13C2B7BBE632}"/>
          </ac:spMkLst>
        </pc:spChg>
        <pc:spChg chg="mod">
          <ac:chgData name="Keiko Bridwell" userId="0d8c6daf-78c4-42ff-97a7-dd086c6e026c" providerId="ADAL" clId="{5415DAD3-9AF0-46DC-A4E6-8437E905FDE1}" dt="2026-10-06T18:36:40.031" v="2956" actId="20577"/>
          <ac:spMkLst>
            <pc:docMk/>
            <pc:sldMk cId="1195851839" sldId="264"/>
            <ac:spMk id="3" creationId="{12B3B62A-19BF-4C40-9292-719216720A21}"/>
          </ac:spMkLst>
        </pc:spChg>
        <pc:picChg chg="mod">
          <ac:chgData name="Keiko Bridwell" userId="0d8c6daf-78c4-42ff-97a7-dd086c6e026c" providerId="ADAL" clId="{5415DAD3-9AF0-46DC-A4E6-8437E905FDE1}" dt="2026-09-28T13:42:39.832" v="185" actId="14100"/>
          <ac:picMkLst>
            <pc:docMk/>
            <pc:sldMk cId="1195851839" sldId="264"/>
            <ac:picMk id="6" creationId="{EBBC6456-78A9-E43C-3CB5-4A6709F9F05F}"/>
          </ac:picMkLst>
        </pc:picChg>
      </pc:sldChg>
      <pc:sldChg chg="add">
        <pc:chgData name="Keiko Bridwell" userId="0d8c6daf-78c4-42ff-97a7-dd086c6e026c" providerId="ADAL" clId="{5415DAD3-9AF0-46DC-A4E6-8437E905FDE1}" dt="2026-10-06T18:43:29.546" v="3206"/>
        <pc:sldMkLst>
          <pc:docMk/>
          <pc:sldMk cId="3026074781" sldId="267"/>
        </pc:sldMkLst>
      </pc:sldChg>
      <pc:sldChg chg="add">
        <pc:chgData name="Keiko Bridwell" userId="0d8c6daf-78c4-42ff-97a7-dd086c6e026c" providerId="ADAL" clId="{5415DAD3-9AF0-46DC-A4E6-8437E905FDE1}" dt="2026-10-06T18:43:29.546" v="3206"/>
        <pc:sldMkLst>
          <pc:docMk/>
          <pc:sldMk cId="4078045404" sldId="268"/>
        </pc:sldMkLst>
      </pc:sldChg>
      <pc:sldChg chg="add">
        <pc:chgData name="Keiko Bridwell" userId="0d8c6daf-78c4-42ff-97a7-dd086c6e026c" providerId="ADAL" clId="{5415DAD3-9AF0-46DC-A4E6-8437E905FDE1}" dt="2026-10-06T18:43:29.546" v="3206"/>
        <pc:sldMkLst>
          <pc:docMk/>
          <pc:sldMk cId="2287825003" sldId="270"/>
        </pc:sldMkLst>
      </pc:sldChg>
      <pc:sldChg chg="add">
        <pc:chgData name="Keiko Bridwell" userId="0d8c6daf-78c4-42ff-97a7-dd086c6e026c" providerId="ADAL" clId="{5415DAD3-9AF0-46DC-A4E6-8437E905FDE1}" dt="2026-10-06T18:43:29.546" v="3206"/>
        <pc:sldMkLst>
          <pc:docMk/>
          <pc:sldMk cId="2462596679" sldId="271"/>
        </pc:sldMkLst>
      </pc:sldChg>
      <pc:sldChg chg="add">
        <pc:chgData name="Keiko Bridwell" userId="0d8c6daf-78c4-42ff-97a7-dd086c6e026c" providerId="ADAL" clId="{5415DAD3-9AF0-46DC-A4E6-8437E905FDE1}" dt="2026-10-06T18:43:29.546" v="3206"/>
        <pc:sldMkLst>
          <pc:docMk/>
          <pc:sldMk cId="2992914844" sldId="272"/>
        </pc:sldMkLst>
      </pc:sldChg>
      <pc:sldChg chg="add">
        <pc:chgData name="Keiko Bridwell" userId="0d8c6daf-78c4-42ff-97a7-dd086c6e026c" providerId="ADAL" clId="{5415DAD3-9AF0-46DC-A4E6-8437E905FDE1}" dt="2026-10-06T18:43:29.546" v="3206"/>
        <pc:sldMkLst>
          <pc:docMk/>
          <pc:sldMk cId="4196173653" sldId="273"/>
        </pc:sldMkLst>
      </pc:sldChg>
      <pc:sldChg chg="add">
        <pc:chgData name="Keiko Bridwell" userId="0d8c6daf-78c4-42ff-97a7-dd086c6e026c" providerId="ADAL" clId="{5415DAD3-9AF0-46DC-A4E6-8437E905FDE1}" dt="2026-10-06T18:43:29.546" v="3206"/>
        <pc:sldMkLst>
          <pc:docMk/>
          <pc:sldMk cId="724406850" sldId="274"/>
        </pc:sldMkLst>
      </pc:sldChg>
      <pc:sldChg chg="delSp modSp mod">
        <pc:chgData name="Keiko Bridwell" userId="0d8c6daf-78c4-42ff-97a7-dd086c6e026c" providerId="ADAL" clId="{5415DAD3-9AF0-46DC-A4E6-8437E905FDE1}" dt="2026-10-06T18:44:04.061" v="3208" actId="947"/>
        <pc:sldMkLst>
          <pc:docMk/>
          <pc:sldMk cId="2435733633" sldId="298"/>
        </pc:sldMkLst>
        <pc:spChg chg="mod">
          <ac:chgData name="Keiko Bridwell" userId="0d8c6daf-78c4-42ff-97a7-dd086c6e026c" providerId="ADAL" clId="{5415DAD3-9AF0-46DC-A4E6-8437E905FDE1}" dt="2026-09-28T13:49:00.496" v="455" actId="20577"/>
          <ac:spMkLst>
            <pc:docMk/>
            <pc:sldMk cId="2435733633" sldId="298"/>
            <ac:spMk id="2" creationId="{BCD9C84A-E7BF-90E6-A2B6-96C28D3F2BBA}"/>
          </ac:spMkLst>
        </pc:spChg>
        <pc:spChg chg="mod">
          <ac:chgData name="Keiko Bridwell" userId="0d8c6daf-78c4-42ff-97a7-dd086c6e026c" providerId="ADAL" clId="{5415DAD3-9AF0-46DC-A4E6-8437E905FDE1}" dt="2026-10-06T18:44:04.061" v="3208" actId="947"/>
          <ac:spMkLst>
            <pc:docMk/>
            <pc:sldMk cId="2435733633" sldId="298"/>
            <ac:spMk id="3" creationId="{D28FC5FB-793F-7198-FEDC-C08A15B19A69}"/>
          </ac:spMkLst>
        </pc:spChg>
      </pc:sldChg>
      <pc:sldChg chg="modSp add mod modNotesTx">
        <pc:chgData name="Keiko Bridwell" userId="0d8c6daf-78c4-42ff-97a7-dd086c6e026c" providerId="ADAL" clId="{5415DAD3-9AF0-46DC-A4E6-8437E905FDE1}" dt="2026-10-08T18:58:09.755" v="3298" actId="948"/>
        <pc:sldMkLst>
          <pc:docMk/>
          <pc:sldMk cId="3407393377" sldId="299"/>
        </pc:sldMkLst>
        <pc:spChg chg="mod">
          <ac:chgData name="Keiko Bridwell" userId="0d8c6daf-78c4-42ff-97a7-dd086c6e026c" providerId="ADAL" clId="{5415DAD3-9AF0-46DC-A4E6-8437E905FDE1}" dt="2026-10-06T18:39:50.544" v="3146" actId="20577"/>
          <ac:spMkLst>
            <pc:docMk/>
            <pc:sldMk cId="3407393377" sldId="299"/>
            <ac:spMk id="2" creationId="{E29BC968-CD8F-F7F9-E909-0F3D6F918560}"/>
          </ac:spMkLst>
        </pc:spChg>
        <pc:spChg chg="mod">
          <ac:chgData name="Keiko Bridwell" userId="0d8c6daf-78c4-42ff-97a7-dd086c6e026c" providerId="ADAL" clId="{5415DAD3-9AF0-46DC-A4E6-8437E905FDE1}" dt="2026-10-08T18:58:09.755" v="3298" actId="948"/>
          <ac:spMkLst>
            <pc:docMk/>
            <pc:sldMk cId="3407393377" sldId="299"/>
            <ac:spMk id="3" creationId="{0178D288-CCBB-76A7-4170-E94B58F3C6E8}"/>
          </ac:spMkLst>
        </pc:spChg>
      </pc:sldChg>
      <pc:sldChg chg="modSp new mod">
        <pc:chgData name="Keiko Bridwell" userId="0d8c6daf-78c4-42ff-97a7-dd086c6e026c" providerId="ADAL" clId="{5415DAD3-9AF0-46DC-A4E6-8437E905FDE1}" dt="2026-10-06T18:41:59.619" v="3190" actId="27636"/>
        <pc:sldMkLst>
          <pc:docMk/>
          <pc:sldMk cId="1222526201" sldId="300"/>
        </pc:sldMkLst>
        <pc:spChg chg="mod">
          <ac:chgData name="Keiko Bridwell" userId="0d8c6daf-78c4-42ff-97a7-dd086c6e026c" providerId="ADAL" clId="{5415DAD3-9AF0-46DC-A4E6-8437E905FDE1}" dt="2026-10-06T18:41:56.083" v="3187" actId="20577"/>
          <ac:spMkLst>
            <pc:docMk/>
            <pc:sldMk cId="1222526201" sldId="300"/>
            <ac:spMk id="2" creationId="{AC1E371E-6903-A94C-9DB5-2D16FB02A843}"/>
          </ac:spMkLst>
        </pc:spChg>
        <pc:spChg chg="mod">
          <ac:chgData name="Keiko Bridwell" userId="0d8c6daf-78c4-42ff-97a7-dd086c6e026c" providerId="ADAL" clId="{5415DAD3-9AF0-46DC-A4E6-8437E905FDE1}" dt="2026-10-06T18:41:59.619" v="3190" actId="27636"/>
          <ac:spMkLst>
            <pc:docMk/>
            <pc:sldMk cId="1222526201" sldId="300"/>
            <ac:spMk id="3" creationId="{C55B9661-66AE-FAF5-DAFA-20944E5026DC}"/>
          </ac:spMkLst>
        </pc:spChg>
      </pc:sldChg>
      <pc:sldChg chg="add">
        <pc:chgData name="Keiko Bridwell" userId="0d8c6daf-78c4-42ff-97a7-dd086c6e026c" providerId="ADAL" clId="{5415DAD3-9AF0-46DC-A4E6-8437E905FDE1}" dt="2026-10-06T18:43:29.546" v="3206"/>
        <pc:sldMkLst>
          <pc:docMk/>
          <pc:sldMk cId="635538424" sldId="301"/>
        </pc:sldMkLst>
      </pc:sldChg>
      <pc:sldChg chg="add">
        <pc:chgData name="Keiko Bridwell" userId="0d8c6daf-78c4-42ff-97a7-dd086c6e026c" providerId="ADAL" clId="{5415DAD3-9AF0-46DC-A4E6-8437E905FDE1}" dt="2026-10-06T18:43:29.546" v="3206"/>
        <pc:sldMkLst>
          <pc:docMk/>
          <pc:sldMk cId="2494489980" sldId="302"/>
        </pc:sldMkLst>
      </pc:sldChg>
      <pc:sldChg chg="add">
        <pc:chgData name="Keiko Bridwell" userId="0d8c6daf-78c4-42ff-97a7-dd086c6e026c" providerId="ADAL" clId="{5415DAD3-9AF0-46DC-A4E6-8437E905FDE1}" dt="2026-10-06T18:43:29.546" v="3206"/>
        <pc:sldMkLst>
          <pc:docMk/>
          <pc:sldMk cId="1631805520" sldId="303"/>
        </pc:sldMkLst>
      </pc:sldChg>
      <pc:sldChg chg="add">
        <pc:chgData name="Keiko Bridwell" userId="0d8c6daf-78c4-42ff-97a7-dd086c6e026c" providerId="ADAL" clId="{5415DAD3-9AF0-46DC-A4E6-8437E905FDE1}" dt="2026-10-06T18:43:29.546" v="3206"/>
        <pc:sldMkLst>
          <pc:docMk/>
          <pc:sldMk cId="907164993" sldId="304"/>
        </pc:sldMkLst>
      </pc:sldChg>
      <pc:sldChg chg="add">
        <pc:chgData name="Keiko Bridwell" userId="0d8c6daf-78c4-42ff-97a7-dd086c6e026c" providerId="ADAL" clId="{5415DAD3-9AF0-46DC-A4E6-8437E905FDE1}" dt="2026-10-06T18:43:29.546" v="3206"/>
        <pc:sldMkLst>
          <pc:docMk/>
          <pc:sldMk cId="1017693649" sldId="307"/>
        </pc:sldMkLst>
      </pc:sldChg>
      <pc:sldChg chg="addSp delSp modSp add mod modNotesTx">
        <pc:chgData name="Keiko Bridwell" userId="0d8c6daf-78c4-42ff-97a7-dd086c6e026c" providerId="ADAL" clId="{5415DAD3-9AF0-46DC-A4E6-8437E905FDE1}" dt="2026-09-28T20:06:57.849" v="1492" actId="20577"/>
        <pc:sldMkLst>
          <pc:docMk/>
          <pc:sldMk cId="3992246967" sldId="353"/>
        </pc:sldMkLst>
        <pc:spChg chg="add mod">
          <ac:chgData name="Keiko Bridwell" userId="0d8c6daf-78c4-42ff-97a7-dd086c6e026c" providerId="ADAL" clId="{5415DAD3-9AF0-46DC-A4E6-8437E905FDE1}" dt="2026-09-28T19:56:29.375" v="1025" actId="20577"/>
          <ac:spMkLst>
            <pc:docMk/>
            <pc:sldMk cId="3992246967" sldId="353"/>
            <ac:spMk id="5" creationId="{D48DD41B-75B8-07E5-F70C-56472AAA24D1}"/>
          </ac:spMkLst>
        </pc:spChg>
        <pc:spChg chg="add mod">
          <ac:chgData name="Keiko Bridwell" userId="0d8c6daf-78c4-42ff-97a7-dd086c6e026c" providerId="ADAL" clId="{5415DAD3-9AF0-46DC-A4E6-8437E905FDE1}" dt="2026-09-28T20:03:12.381" v="1428" actId="14100"/>
          <ac:spMkLst>
            <pc:docMk/>
            <pc:sldMk cId="3992246967" sldId="353"/>
            <ac:spMk id="10" creationId="{E25F3832-BE75-42B9-C3C8-6D27DB6668A1}"/>
          </ac:spMkLst>
        </pc:spChg>
      </pc:sldChg>
      <pc:sldChg chg="addSp delSp modSp add mod modNotesTx">
        <pc:chgData name="Keiko Bridwell" userId="0d8c6daf-78c4-42ff-97a7-dd086c6e026c" providerId="ADAL" clId="{5415DAD3-9AF0-46DC-A4E6-8437E905FDE1}" dt="2026-09-28T20:06:48.962" v="1491" actId="20577"/>
        <pc:sldMkLst>
          <pc:docMk/>
          <pc:sldMk cId="81033184" sldId="356"/>
        </pc:sldMkLst>
        <pc:spChg chg="add mod">
          <ac:chgData name="Keiko Bridwell" userId="0d8c6daf-78c4-42ff-97a7-dd086c6e026c" providerId="ADAL" clId="{5415DAD3-9AF0-46DC-A4E6-8437E905FDE1}" dt="2026-09-28T20:06:36.925" v="1490" actId="20577"/>
          <ac:spMkLst>
            <pc:docMk/>
            <pc:sldMk cId="81033184" sldId="356"/>
            <ac:spMk id="23" creationId="{109083BB-9F0C-6545-2581-C31397A2CBB3}"/>
          </ac:spMkLst>
        </pc:spChg>
        <pc:spChg chg="mod">
          <ac:chgData name="Keiko Bridwell" userId="0d8c6daf-78c4-42ff-97a7-dd086c6e026c" providerId="ADAL" clId="{5415DAD3-9AF0-46DC-A4E6-8437E905FDE1}" dt="2026-09-28T20:06:05.921" v="1454" actId="948"/>
          <ac:spMkLst>
            <pc:docMk/>
            <pc:sldMk cId="81033184" sldId="356"/>
            <ac:spMk id="463" creationId="{78F72A7B-A276-C6C5-10D0-F712388F5662}"/>
          </ac:spMkLst>
        </pc:spChg>
      </pc:sldChg>
      <pc:sldChg chg="modSp new mod">
        <pc:chgData name="Keiko Bridwell" userId="0d8c6daf-78c4-42ff-97a7-dd086c6e026c" providerId="ADAL" clId="{5415DAD3-9AF0-46DC-A4E6-8437E905FDE1}" dt="2026-10-06T18:42:53.160" v="3205" actId="20577"/>
        <pc:sldMkLst>
          <pc:docMk/>
          <pc:sldMk cId="2479961673" sldId="357"/>
        </pc:sldMkLst>
        <pc:spChg chg="mod">
          <ac:chgData name="Keiko Bridwell" userId="0d8c6daf-78c4-42ff-97a7-dd086c6e026c" providerId="ADAL" clId="{5415DAD3-9AF0-46DC-A4E6-8437E905FDE1}" dt="2026-10-06T18:42:53.160" v="3205" actId="20577"/>
          <ac:spMkLst>
            <pc:docMk/>
            <pc:sldMk cId="2479961673" sldId="357"/>
            <ac:spMk id="2" creationId="{81822A1E-9A81-40C6-36FB-214AD21F564F}"/>
          </ac:spMkLst>
        </pc:spChg>
      </pc:sldChg>
      <pc:sldChg chg="modSp add mod">
        <pc:chgData name="Keiko Bridwell" userId="0d8c6daf-78c4-42ff-97a7-dd086c6e026c" providerId="ADAL" clId="{5415DAD3-9AF0-46DC-A4E6-8437E905FDE1}" dt="2026-10-06T18:46:17.219" v="3295" actId="20577"/>
        <pc:sldMkLst>
          <pc:docMk/>
          <pc:sldMk cId="448232047" sldId="358"/>
        </pc:sldMkLst>
        <pc:spChg chg="mod">
          <ac:chgData name="Keiko Bridwell" userId="0d8c6daf-78c4-42ff-97a7-dd086c6e026c" providerId="ADAL" clId="{5415DAD3-9AF0-46DC-A4E6-8437E905FDE1}" dt="2026-10-06T18:46:17.219" v="3295" actId="20577"/>
          <ac:spMkLst>
            <pc:docMk/>
            <pc:sldMk cId="448232047" sldId="358"/>
            <ac:spMk id="3" creationId="{7D2F401E-6018-405F-80A6-0E942269AD0F}"/>
          </ac:spMkLst>
        </pc:spChg>
      </pc:sldChg>
      <pc:sldChg chg="add">
        <pc:chgData name="Keiko Bridwell" userId="0d8c6daf-78c4-42ff-97a7-dd086c6e026c" providerId="ADAL" clId="{5415DAD3-9AF0-46DC-A4E6-8437E905FDE1}" dt="2026-10-06T18:43:29.546" v="3206"/>
        <pc:sldMkLst>
          <pc:docMk/>
          <pc:sldMk cId="2146676369" sldId="35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31DDC7-1FBD-3A74-9F56-3E305A9992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4EBBA50-4B7E-44E3-83C1-52DEC7103E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C9B534-04A1-45CA-9C5C-ABF1179B4F88}" type="datetimeFigureOut">
              <a:rPr lang="en-US" smtClean="0"/>
              <a:t>10/8/2026</a:t>
            </a:fld>
            <a:endParaRPr lang="en-US"/>
          </a:p>
        </p:txBody>
      </p:sp>
      <p:sp>
        <p:nvSpPr>
          <p:cNvPr id="4" name="Footer Placeholder 3">
            <a:extLst>
              <a:ext uri="{FF2B5EF4-FFF2-40B4-BE49-F238E27FC236}">
                <a16:creationId xmlns:a16="http://schemas.microsoft.com/office/drawing/2014/main" id="{666C0707-5D14-3A12-3F2B-B7B4679EEB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75C2ECD-30C9-093F-68D9-B87CBC06DD8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B752EE-F489-4819-9E76-73BA0381CFBD}" type="slidenum">
              <a:rPr lang="en-US" smtClean="0"/>
              <a:t>‹#›</a:t>
            </a:fld>
            <a:endParaRPr lang="en-US"/>
          </a:p>
        </p:txBody>
      </p:sp>
    </p:spTree>
    <p:extLst>
      <p:ext uri="{BB962C8B-B14F-4D97-AF65-F5344CB8AC3E}">
        <p14:creationId xmlns:p14="http://schemas.microsoft.com/office/powerpoint/2010/main" val="3332264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96130A-F014-4FEA-8E56-DF20D01199DE}"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B2231-1294-4327-84DE-9641F546980F}" type="slidenum">
              <a:rPr lang="en-US" smtClean="0"/>
              <a:t>‹#›</a:t>
            </a:fld>
            <a:endParaRPr lang="en-US"/>
          </a:p>
        </p:txBody>
      </p:sp>
    </p:spTree>
    <p:extLst>
      <p:ext uri="{BB962C8B-B14F-4D97-AF65-F5344CB8AC3E}">
        <p14:creationId xmlns:p14="http://schemas.microsoft.com/office/powerpoint/2010/main" val="4121305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B2231-1294-4327-84DE-9641F546980F}" type="slidenum">
              <a:rPr lang="en-US" smtClean="0"/>
              <a:t>1</a:t>
            </a:fld>
            <a:endParaRPr lang="en-US"/>
          </a:p>
        </p:txBody>
      </p:sp>
    </p:spTree>
    <p:extLst>
      <p:ext uri="{BB962C8B-B14F-4D97-AF65-F5344CB8AC3E}">
        <p14:creationId xmlns:p14="http://schemas.microsoft.com/office/powerpoint/2010/main" val="695532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743B2231-1294-4327-84DE-9641F546980F}" type="slidenum">
              <a:rPr lang="en-US" smtClean="0"/>
              <a:t>3</a:t>
            </a:fld>
            <a:endParaRPr lang="en-US"/>
          </a:p>
        </p:txBody>
      </p:sp>
    </p:spTree>
    <p:extLst>
      <p:ext uri="{BB962C8B-B14F-4D97-AF65-F5344CB8AC3E}">
        <p14:creationId xmlns:p14="http://schemas.microsoft.com/office/powerpoint/2010/main" val="2750289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7DE70D81-82E5-7029-5858-28332921E9CE}"/>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750FB245-0850-DF5D-04B7-A4CBC13009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BEFD13D6-1923-96AB-B4FE-C386111EC8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endParaRPr lang="en-US" dirty="0"/>
          </a:p>
        </p:txBody>
      </p:sp>
    </p:spTree>
    <p:extLst>
      <p:ext uri="{BB962C8B-B14F-4D97-AF65-F5344CB8AC3E}">
        <p14:creationId xmlns:p14="http://schemas.microsoft.com/office/powerpoint/2010/main" val="3235097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6B1A8386-01A0-8EF0-5873-43F529E84371}"/>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4F63C680-A011-D3F3-B575-02B006AC9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3FF085FA-BE31-6D2C-1286-963C6FA426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994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8665" y="1760600"/>
            <a:ext cx="10058400" cy="2178764"/>
          </a:xfrm>
        </p:spPr>
        <p:txBody>
          <a:bodyPr anchor="b">
            <a:normAutofit/>
          </a:bodyPr>
          <a:lstStyle>
            <a:lvl1pPr algn="ctr">
              <a:lnSpc>
                <a:spcPct val="85000"/>
              </a:lnSpc>
              <a:defRPr sz="6000" spc="-50" baseline="0">
                <a:solidFill>
                  <a:schemeClr val="tx1">
                    <a:lumMod val="75000"/>
                    <a:lumOff val="25000"/>
                  </a:schemeClr>
                </a:solidFill>
                <a:latin typeface="+mj-lt"/>
              </a:defRPr>
            </a:lvl1pPr>
          </a:lstStyle>
          <a:p>
            <a:r>
              <a:rPr lang="en-US" dirty="0"/>
              <a:t>Click to edit Master title style</a:t>
            </a:r>
          </a:p>
        </p:txBody>
      </p:sp>
      <p:sp>
        <p:nvSpPr>
          <p:cNvPr id="3" name="Subtitle 2"/>
          <p:cNvSpPr>
            <a:spLocks noGrp="1"/>
          </p:cNvSpPr>
          <p:nvPr>
            <p:ph type="subTitle" idx="1"/>
          </p:nvPr>
        </p:nvSpPr>
        <p:spPr>
          <a:xfrm>
            <a:off x="1098665" y="4561085"/>
            <a:ext cx="10058400" cy="1369197"/>
          </a:xfrm>
        </p:spPr>
        <p:txBody>
          <a:bodyPr lIns="91440" rIns="91440">
            <a:normAutofit/>
          </a:bodyPr>
          <a:lstStyle>
            <a:lvl1pPr marL="0" indent="0" algn="ctr">
              <a:lnSpc>
                <a:spcPct val="90000"/>
              </a:lnSpc>
              <a:buNone/>
              <a:defRPr sz="20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6" name="Slide Number Placeholder 5"/>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704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7101C2A3-3C26-4E47-BB8B-21EBD5971CC9}"/>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Tree>
    <p:extLst>
      <p:ext uri="{BB962C8B-B14F-4D97-AF65-F5344CB8AC3E}">
        <p14:creationId xmlns:p14="http://schemas.microsoft.com/office/powerpoint/2010/main" val="1712135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3175" y="6400800"/>
            <a:ext cx="12188825"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gn="ct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lgn="ctr">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5">
            <a:extLst>
              <a:ext uri="{FF2B5EF4-FFF2-40B4-BE49-F238E27FC236}">
                <a16:creationId xmlns:a16="http://schemas.microsoft.com/office/drawing/2014/main" id="{4809F2DE-123B-42C7-80DE-E4264BFB17BE}"/>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Tree>
    <p:extLst>
      <p:ext uri="{BB962C8B-B14F-4D97-AF65-F5344CB8AC3E}">
        <p14:creationId xmlns:p14="http://schemas.microsoft.com/office/powerpoint/2010/main" val="919191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78" y="1950098"/>
            <a:ext cx="4937760" cy="39189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950097"/>
            <a:ext cx="4937760" cy="391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F799986C-866A-4CC6-A9A6-0C68974507A4}"/>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10" name="Title Placeholder 1">
            <a:extLst>
              <a:ext uri="{FF2B5EF4-FFF2-40B4-BE49-F238E27FC236}">
                <a16:creationId xmlns:a16="http://schemas.microsoft.com/office/drawing/2014/main" id="{C0EF6634-B59E-47F4-B24E-AF60081D6194}"/>
              </a:ext>
            </a:extLst>
          </p:cNvPr>
          <p:cNvSpPr>
            <a:spLocks noGrp="1"/>
          </p:cNvSpPr>
          <p:nvPr>
            <p:ph type="title"/>
          </p:nvPr>
        </p:nvSpPr>
        <p:spPr>
          <a:xfrm>
            <a:off x="1097280" y="286604"/>
            <a:ext cx="10058400" cy="1318262"/>
          </a:xfrm>
          <a:prstGeom prst="rect">
            <a:avLst/>
          </a:prstGeom>
        </p:spPr>
        <p:txBody>
          <a:bodyPr vert="horz" lIns="91440" tIns="45720" rIns="91440" bIns="45720" rtlCol="0" anchor="b">
            <a:normAutofit/>
          </a:bodyPr>
          <a:lstStyle/>
          <a:p>
            <a:r>
              <a:rPr lang="en-US" dirty="0"/>
              <a:t>Click to edit Master title style</a:t>
            </a:r>
          </a:p>
        </p:txBody>
      </p:sp>
    </p:spTree>
    <p:extLst>
      <p:ext uri="{BB962C8B-B14F-4D97-AF65-F5344CB8AC3E}">
        <p14:creationId xmlns:p14="http://schemas.microsoft.com/office/powerpoint/2010/main" val="3900140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544035FF-606E-4DF2-95E4-02031DDC5D04}"/>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12" name="Title Placeholder 1">
            <a:extLst>
              <a:ext uri="{FF2B5EF4-FFF2-40B4-BE49-F238E27FC236}">
                <a16:creationId xmlns:a16="http://schemas.microsoft.com/office/drawing/2014/main" id="{7713E513-4003-4ECC-8FD4-0A6130BC831C}"/>
              </a:ext>
            </a:extLst>
          </p:cNvPr>
          <p:cNvSpPr>
            <a:spLocks noGrp="1"/>
          </p:cNvSpPr>
          <p:nvPr>
            <p:ph type="title"/>
          </p:nvPr>
        </p:nvSpPr>
        <p:spPr>
          <a:xfrm>
            <a:off x="1097280" y="286604"/>
            <a:ext cx="10058400" cy="1318262"/>
          </a:xfrm>
          <a:prstGeom prst="rect">
            <a:avLst/>
          </a:prstGeom>
        </p:spPr>
        <p:txBody>
          <a:bodyPr vert="horz" lIns="91440" tIns="45720" rIns="91440" bIns="45720" rtlCol="0" anchor="b">
            <a:normAutofit/>
          </a:bodyPr>
          <a:lstStyle/>
          <a:p>
            <a:r>
              <a:rPr lang="en-US" dirty="0"/>
              <a:t>Click to edit Master title style</a:t>
            </a:r>
          </a:p>
        </p:txBody>
      </p:sp>
    </p:spTree>
    <p:extLst>
      <p:ext uri="{BB962C8B-B14F-4D97-AF65-F5344CB8AC3E}">
        <p14:creationId xmlns:p14="http://schemas.microsoft.com/office/powerpoint/2010/main" val="4057845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25B7A255-C947-4CB6-987B-8B9EAB8763D3}"/>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5" name="Footer Placeholder 5">
            <a:extLst>
              <a:ext uri="{FF2B5EF4-FFF2-40B4-BE49-F238E27FC236}">
                <a16:creationId xmlns:a16="http://schemas.microsoft.com/office/drawing/2014/main" id="{B50D7D39-F65A-4928-B047-EC74537CC41A}"/>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8" name="Picture 7" descr="A picture containing ax, vector graphics, tool&#10;&#10;Description automatically generated">
            <a:extLst>
              <a:ext uri="{FF2B5EF4-FFF2-40B4-BE49-F238E27FC236}">
                <a16:creationId xmlns:a16="http://schemas.microsoft.com/office/drawing/2014/main" id="{FED7AEC6-C02D-4A1D-A9D2-93BA586335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538933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Slide Number Placeholder 5">
            <a:extLst>
              <a:ext uri="{FF2B5EF4-FFF2-40B4-BE49-F238E27FC236}">
                <a16:creationId xmlns:a16="http://schemas.microsoft.com/office/drawing/2014/main" id="{EDB28033-0FF2-488E-98A9-A50E3EA1801C}"/>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9" name="Footer Placeholder 5">
            <a:extLst>
              <a:ext uri="{FF2B5EF4-FFF2-40B4-BE49-F238E27FC236}">
                <a16:creationId xmlns:a16="http://schemas.microsoft.com/office/drawing/2014/main" id="{346AB3B2-C05C-4203-9161-C38CFA80FD3C}"/>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11" name="Picture 10" descr="A picture containing ax, vector graphics, tool&#10;&#10;Description automatically generated">
            <a:extLst>
              <a:ext uri="{FF2B5EF4-FFF2-40B4-BE49-F238E27FC236}">
                <a16:creationId xmlns:a16="http://schemas.microsoft.com/office/drawing/2014/main" id="{28630407-526B-4BBA-92C3-EEC7AF0413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2092504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Slide Number Placeholder 5">
            <a:extLst>
              <a:ext uri="{FF2B5EF4-FFF2-40B4-BE49-F238E27FC236}">
                <a16:creationId xmlns:a16="http://schemas.microsoft.com/office/drawing/2014/main" id="{C12457F3-EB9A-4201-8AAA-5E7460EED848}"/>
              </a:ext>
            </a:extLst>
          </p:cNvPr>
          <p:cNvSpPr>
            <a:spLocks noGrp="1"/>
          </p:cNvSpPr>
          <p:nvPr>
            <p:ph type="sldNum" sz="quarter" idx="12"/>
          </p:nvPr>
        </p:nvSpPr>
        <p:spPr>
          <a:xfrm>
            <a:off x="10805527" y="6446837"/>
            <a:ext cx="1312025" cy="365125"/>
          </a:xfrm>
          <a:prstGeom prst="rect">
            <a:avLst/>
          </a:prstGeom>
        </p:spPr>
        <p:txBody>
          <a:bodyPr/>
          <a:lstStyle>
            <a:lvl1pPr>
              <a:defRPr>
                <a:solidFill>
                  <a:schemeClr val="tx1"/>
                </a:solidFill>
              </a:defRPr>
            </a:lvl1pPr>
          </a:lstStyle>
          <a:p>
            <a:fld id="{72D68BE1-19F6-402D-9E75-4E3BB4A747F9}" type="slidenum">
              <a:rPr lang="en-US" smtClean="0"/>
              <a:pPr/>
              <a:t>‹#›</a:t>
            </a:fld>
            <a:endParaRPr lang="en-US"/>
          </a:p>
        </p:txBody>
      </p:sp>
      <p:sp>
        <p:nvSpPr>
          <p:cNvPr id="11" name="Footer Placeholder 5">
            <a:extLst>
              <a:ext uri="{FF2B5EF4-FFF2-40B4-BE49-F238E27FC236}">
                <a16:creationId xmlns:a16="http://schemas.microsoft.com/office/drawing/2014/main" id="{2B105599-BEA2-49AE-ABE6-132C37D53E68}"/>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a:t>
            </a:r>
            <a:r>
              <a:rPr lang="en-US" sz="1600" dirty="0">
                <a:solidFill>
                  <a:schemeClr val="tx1"/>
                </a:solidFill>
              </a:rPr>
              <a:t>		digi@uga.edu</a:t>
            </a:r>
          </a:p>
        </p:txBody>
      </p:sp>
      <p:pic>
        <p:nvPicPr>
          <p:cNvPr id="12" name="Picture 11" descr="A picture containing ax, vector graphics, tool&#10;&#10;Description automatically generated">
            <a:extLst>
              <a:ext uri="{FF2B5EF4-FFF2-40B4-BE49-F238E27FC236}">
                <a16:creationId xmlns:a16="http://schemas.microsoft.com/office/drawing/2014/main" id="{E5DDE7DB-8CA4-4EEE-9175-92A7EE20CC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2444383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1"/>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Slide Number Placeholder 5">
            <a:extLst>
              <a:ext uri="{FF2B5EF4-FFF2-40B4-BE49-F238E27FC236}">
                <a16:creationId xmlns:a16="http://schemas.microsoft.com/office/drawing/2014/main" id="{5B4A9F66-99C1-4B0E-BF26-A48FFC34EE2A}"/>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12" name="Footer Placeholder 5">
            <a:extLst>
              <a:ext uri="{FF2B5EF4-FFF2-40B4-BE49-F238E27FC236}">
                <a16:creationId xmlns:a16="http://schemas.microsoft.com/office/drawing/2014/main" id="{7B3DF220-8B01-4A72-AE39-088BAEFCFCD7}"/>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13" name="Picture 12" descr="A picture containing ax, vector graphics, tool&#10;&#10;Description automatically generated">
            <a:extLst>
              <a:ext uri="{FF2B5EF4-FFF2-40B4-BE49-F238E27FC236}">
                <a16:creationId xmlns:a16="http://schemas.microsoft.com/office/drawing/2014/main" id="{DB826C57-8B95-43D0-9C8E-E40B5E94B6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3571294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135F8964-4153-4104-9134-114C5001906E}"/>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6" name="Footer Placeholder 5">
            <a:extLst>
              <a:ext uri="{FF2B5EF4-FFF2-40B4-BE49-F238E27FC236}">
                <a16:creationId xmlns:a16="http://schemas.microsoft.com/office/drawing/2014/main" id="{43617953-44C1-48B3-83FD-24CA734B7836}"/>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9" name="Picture 8" descr="A picture containing ax, vector graphics, tool&#10;&#10;Description automatically generated">
            <a:extLst>
              <a:ext uri="{FF2B5EF4-FFF2-40B4-BE49-F238E27FC236}">
                <a16:creationId xmlns:a16="http://schemas.microsoft.com/office/drawing/2014/main" id="{634D402F-8A5A-4DDA-ACCE-355DC96467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3758468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9C49034E-70CC-4DF4-8240-7F2EB51CCB8D}"/>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11" name="Footer Placeholder 5">
            <a:extLst>
              <a:ext uri="{FF2B5EF4-FFF2-40B4-BE49-F238E27FC236}">
                <a16:creationId xmlns:a16="http://schemas.microsoft.com/office/drawing/2014/main" id="{8063CC0B-CCC3-4C42-A7B4-28C79035AFCC}"/>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12" name="Picture 11" descr="A picture containing ax, vector graphics, tool&#10;&#10;Description automatically generated">
            <a:extLst>
              <a:ext uri="{FF2B5EF4-FFF2-40B4-BE49-F238E27FC236}">
                <a16:creationId xmlns:a16="http://schemas.microsoft.com/office/drawing/2014/main" id="{337F9933-3485-48DC-A0FE-7D78EEE7D5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2072013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960000" y="593367"/>
            <a:ext cx="7399600" cy="763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5" name="Google Shape;55;p7"/>
          <p:cNvSpPr txBox="1">
            <a:spLocks noGrp="1"/>
          </p:cNvSpPr>
          <p:nvPr>
            <p:ph type="subTitle" idx="1"/>
          </p:nvPr>
        </p:nvSpPr>
        <p:spPr>
          <a:xfrm>
            <a:off x="960000" y="2202767"/>
            <a:ext cx="5726400" cy="284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extLst>
      <p:ext uri="{BB962C8B-B14F-4D97-AF65-F5344CB8AC3E}">
        <p14:creationId xmlns:p14="http://schemas.microsoft.com/office/powerpoint/2010/main" val="47953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 y="6400800"/>
            <a:ext cx="12192000"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4"/>
            <a:ext cx="10058400" cy="13182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937310"/>
            <a:ext cx="10058400" cy="3931784"/>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Twitter: @DigiLab_UGA	 											Email: digi@uga.edu</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2D68BE1-19F6-402D-9E75-4E3BB4A747F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0466629"/>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457200" indent="-274320" algn="l" defTabSz="914400" rtl="0" eaLnBrk="1" latinLnBrk="0" hangingPunct="1">
        <a:lnSpc>
          <a:spcPct val="100000"/>
        </a:lnSpc>
        <a:spcBef>
          <a:spcPts val="1200"/>
        </a:spcBef>
        <a:spcAft>
          <a:spcPts val="200"/>
        </a:spcAft>
        <a:buClr>
          <a:schemeClr val="accent1"/>
        </a:buClr>
        <a:buSzPct val="100000"/>
        <a:buFont typeface="Arial" panose="020B0604020202020204" pitchFamily="34" charset="0"/>
        <a:buChar char="•"/>
        <a:defRPr sz="2200" kern="1200">
          <a:solidFill>
            <a:schemeClr val="tx1">
              <a:lumMod val="75000"/>
              <a:lumOff val="25000"/>
            </a:schemeClr>
          </a:solidFill>
          <a:latin typeface="+mn-lt"/>
          <a:ea typeface="+mn-ea"/>
          <a:cs typeface="+mn-cs"/>
        </a:defRPr>
      </a:lvl1pPr>
      <a:lvl2pPr marL="822960" indent="-27432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1188720" indent="-18288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554480" indent="-182880" algn="l" defTabSz="914400" rtl="0" eaLnBrk="1" latinLnBrk="0" hangingPunct="1">
        <a:lnSpc>
          <a:spcPct val="10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1828800" indent="-18288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keikob/Workshop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3.xml"/><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uga.libwizard.com/f/osds" TargetMode="External"/><Relationship Id="rId2" Type="http://schemas.openxmlformats.org/officeDocument/2006/relationships/hyperlink" Target="https://guides.libs.uga.edu/data-services/training/workshop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alendar.libs.uga.edu/appointments/osds"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hyperlink" Target="https://guides.libs.uga.edu/data-services/" TargetMode="External"/><Relationship Id="rId7" Type="http://schemas.openxmlformats.org/officeDocument/2006/relationships/hyperlink" Target="https://www.libs.uga.edu/datastudio"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guides.libs.uga.edu/data-services/data-analysis/resources" TargetMode="External"/><Relationship Id="rId5" Type="http://schemas.openxmlformats.org/officeDocument/2006/relationships/hyperlink" Target="https://guides.libs.uga.edu/data-services/training/workshops" TargetMode="External"/><Relationship Id="rId4" Type="http://schemas.openxmlformats.org/officeDocument/2006/relationships/hyperlink" Target="https://calendar.libs.uga.edu/appointments/os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54F89-A816-4B12-9807-13C2B7BBE632}"/>
              </a:ext>
            </a:extLst>
          </p:cNvPr>
          <p:cNvSpPr>
            <a:spLocks noGrp="1"/>
          </p:cNvSpPr>
          <p:nvPr>
            <p:ph type="ctrTitle"/>
          </p:nvPr>
        </p:nvSpPr>
        <p:spPr>
          <a:xfrm>
            <a:off x="1433252" y="1605469"/>
            <a:ext cx="9325495" cy="2178764"/>
          </a:xfrm>
        </p:spPr>
        <p:txBody>
          <a:bodyPr>
            <a:normAutofit/>
          </a:bodyPr>
          <a:lstStyle/>
          <a:p>
            <a:r>
              <a:rPr lang="en-US" sz="6600" dirty="0"/>
              <a:t>Working with Data </a:t>
            </a:r>
            <a:br>
              <a:rPr lang="en-US" sz="6600" dirty="0"/>
            </a:br>
            <a:r>
              <a:rPr lang="en-US" sz="6600" dirty="0"/>
              <a:t>in Excel</a:t>
            </a:r>
          </a:p>
        </p:txBody>
      </p:sp>
      <p:sp>
        <p:nvSpPr>
          <p:cNvPr id="3" name="Subtitle 2">
            <a:extLst>
              <a:ext uri="{FF2B5EF4-FFF2-40B4-BE49-F238E27FC236}">
                <a16:creationId xmlns:a16="http://schemas.microsoft.com/office/drawing/2014/main" id="{12B3B62A-19BF-4C40-9292-719216720A21}"/>
              </a:ext>
            </a:extLst>
          </p:cNvPr>
          <p:cNvSpPr>
            <a:spLocks noGrp="1"/>
          </p:cNvSpPr>
          <p:nvPr>
            <p:ph type="subTitle" idx="1"/>
          </p:nvPr>
        </p:nvSpPr>
        <p:spPr>
          <a:xfrm>
            <a:off x="1066799" y="4630096"/>
            <a:ext cx="10058400" cy="1369197"/>
          </a:xfrm>
        </p:spPr>
        <p:txBody>
          <a:bodyPr anchor="ctr">
            <a:normAutofit/>
          </a:bodyPr>
          <a:lstStyle/>
          <a:p>
            <a:r>
              <a:rPr lang="en-US" sz="1600" kern="200" cap="none" spc="100" dirty="0">
                <a:latin typeface="Merriweather Light 18pt" pitchFamily="2" charset="0"/>
                <a:ea typeface="Merriweather Light 18pt" pitchFamily="2" charset="0"/>
                <a:cs typeface="Merriweather Light 18pt" pitchFamily="2" charset="0"/>
              </a:rPr>
              <a:t>Keiko Bridwell, Ph.D.</a:t>
            </a:r>
          </a:p>
          <a:p>
            <a:r>
              <a:rPr lang="en-US" sz="1600" kern="200" cap="none" spc="100" dirty="0">
                <a:latin typeface="Merriweather Light 18pt" pitchFamily="2" charset="0"/>
                <a:ea typeface="Merriweather Light 18pt" pitchFamily="2" charset="0"/>
                <a:cs typeface="Merriweather Light 18pt" pitchFamily="2" charset="0"/>
              </a:rPr>
              <a:t>Open Scholarship and Data Services</a:t>
            </a:r>
          </a:p>
          <a:p>
            <a:r>
              <a:rPr lang="en-US" sz="1600" kern="200" cap="none" spc="100" dirty="0">
                <a:latin typeface="Merriweather Light 18pt" pitchFamily="2" charset="0"/>
                <a:ea typeface="Merriweather Light 18pt" pitchFamily="2" charset="0"/>
                <a:cs typeface="Merriweather Light 18pt" pitchFamily="2" charset="0"/>
              </a:rPr>
              <a:t>AI &amp; Data Studio, October 9, 2026</a:t>
            </a:r>
          </a:p>
        </p:txBody>
      </p:sp>
      <p:sp>
        <p:nvSpPr>
          <p:cNvPr id="4" name="Slide Number Placeholder 3">
            <a:extLst>
              <a:ext uri="{FF2B5EF4-FFF2-40B4-BE49-F238E27FC236}">
                <a16:creationId xmlns:a16="http://schemas.microsoft.com/office/drawing/2014/main" id="{14F22A25-F8BE-4177-A005-E1AAA2D777DA}"/>
              </a:ext>
            </a:extLst>
          </p:cNvPr>
          <p:cNvSpPr>
            <a:spLocks noGrp="1"/>
          </p:cNvSpPr>
          <p:nvPr>
            <p:ph type="sldNum" sz="quarter" idx="12"/>
          </p:nvPr>
        </p:nvSpPr>
        <p:spPr/>
        <p:txBody>
          <a:bodyPr/>
          <a:lstStyle/>
          <a:p>
            <a:fld id="{72D68BE1-19F6-402D-9E75-4E3BB4A747F9}" type="slidenum">
              <a:rPr lang="en-US" smtClean="0"/>
              <a:t>1</a:t>
            </a:fld>
            <a:endParaRPr lang="en-US"/>
          </a:p>
        </p:txBody>
      </p:sp>
      <p:pic>
        <p:nvPicPr>
          <p:cNvPr id="6" name="Picture 5">
            <a:extLst>
              <a:ext uri="{FF2B5EF4-FFF2-40B4-BE49-F238E27FC236}">
                <a16:creationId xmlns:a16="http://schemas.microsoft.com/office/drawing/2014/main" id="{EBBC6456-78A9-E43C-3CB5-4A6709F9F05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5380" y="249967"/>
            <a:ext cx="3516508" cy="963706"/>
          </a:xfrm>
          <a:prstGeom prst="rect">
            <a:avLst/>
          </a:prstGeom>
        </p:spPr>
      </p:pic>
    </p:spTree>
    <p:extLst>
      <p:ext uri="{BB962C8B-B14F-4D97-AF65-F5344CB8AC3E}">
        <p14:creationId xmlns:p14="http://schemas.microsoft.com/office/powerpoint/2010/main" val="1195851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9C84A-E7BF-90E6-A2B6-96C28D3F2BBA}"/>
              </a:ext>
            </a:extLst>
          </p:cNvPr>
          <p:cNvSpPr>
            <a:spLocks noGrp="1"/>
          </p:cNvSpPr>
          <p:nvPr>
            <p:ph type="title"/>
          </p:nvPr>
        </p:nvSpPr>
        <p:spPr/>
        <p:txBody>
          <a:bodyPr/>
          <a:lstStyle/>
          <a:p>
            <a:r>
              <a:rPr lang="en-US" sz="4000" dirty="0"/>
              <a:t>Topics Covered</a:t>
            </a:r>
            <a:endParaRPr lang="en-US" dirty="0"/>
          </a:p>
        </p:txBody>
      </p:sp>
      <p:sp>
        <p:nvSpPr>
          <p:cNvPr id="3" name="Content Placeholder 2">
            <a:extLst>
              <a:ext uri="{FF2B5EF4-FFF2-40B4-BE49-F238E27FC236}">
                <a16:creationId xmlns:a16="http://schemas.microsoft.com/office/drawing/2014/main" id="{D28FC5FB-793F-7198-FEDC-C08A15B19A69}"/>
              </a:ext>
            </a:extLst>
          </p:cNvPr>
          <p:cNvSpPr>
            <a:spLocks noGrp="1"/>
          </p:cNvSpPr>
          <p:nvPr>
            <p:ph idx="1"/>
          </p:nvPr>
        </p:nvSpPr>
        <p:spPr>
          <a:xfrm>
            <a:off x="1097280" y="1937310"/>
            <a:ext cx="10058400" cy="3402441"/>
          </a:xfrm>
        </p:spPr>
        <p:txBody>
          <a:bodyPr>
            <a:normAutofit fontScale="92500" lnSpcReduction="10000"/>
          </a:bodyPr>
          <a:lstStyle/>
          <a:p>
            <a:r>
              <a:rPr lang="en-US" sz="1800" kern="200" dirty="0">
                <a:ea typeface="Merriweather Light 18pt" pitchFamily="2" charset="0"/>
                <a:cs typeface="Merriweather Light 18pt" pitchFamily="2" charset="0"/>
              </a:rPr>
              <a:t>Functions</a:t>
            </a:r>
          </a:p>
          <a:p>
            <a:pPr lvl="1"/>
            <a:r>
              <a:rPr lang="en-US" sz="1400" kern="200" dirty="0">
                <a:ea typeface="Merriweather Light 18pt" pitchFamily="2" charset="0"/>
                <a:cs typeface="Merriweather Light 18pt" pitchFamily="2" charset="0"/>
              </a:rPr>
              <a:t>Basic math</a:t>
            </a:r>
          </a:p>
          <a:p>
            <a:pPr lvl="1"/>
            <a:r>
              <a:rPr lang="en-US" sz="1400" kern="200" dirty="0">
                <a:ea typeface="Merriweather Light 18pt" pitchFamily="2" charset="0"/>
                <a:cs typeface="Merriweather Light 18pt" pitchFamily="2" charset="0"/>
              </a:rPr>
              <a:t>Counting</a:t>
            </a:r>
          </a:p>
          <a:p>
            <a:pPr lvl="1"/>
            <a:r>
              <a:rPr lang="en-US" sz="1400" kern="200" dirty="0">
                <a:ea typeface="Merriweather Light 18pt" pitchFamily="2" charset="0"/>
                <a:cs typeface="Merriweather Light 18pt" pitchFamily="2" charset="0"/>
              </a:rPr>
              <a:t>Manipulating text</a:t>
            </a:r>
          </a:p>
          <a:p>
            <a:pPr lvl="1"/>
            <a:r>
              <a:rPr lang="en-US" sz="1400" kern="200" dirty="0">
                <a:ea typeface="Merriweather Light 18pt" pitchFamily="2" charset="0"/>
                <a:cs typeface="Merriweather Light 18pt" pitchFamily="2" charset="0"/>
              </a:rPr>
              <a:t>If-then statements</a:t>
            </a:r>
          </a:p>
          <a:p>
            <a:pPr lvl="1"/>
            <a:r>
              <a:rPr lang="en-US" sz="1400" kern="200" dirty="0">
                <a:ea typeface="Merriweather Light 18pt" pitchFamily="2" charset="0"/>
                <a:cs typeface="Merriweather Light 18pt" pitchFamily="2" charset="0"/>
              </a:rPr>
              <a:t>Dates</a:t>
            </a:r>
          </a:p>
          <a:p>
            <a:r>
              <a:rPr lang="en-US" sz="1800" kern="200" dirty="0">
                <a:ea typeface="Merriweather Light 18pt" pitchFamily="2" charset="0"/>
                <a:cs typeface="Merriweather Light 18pt" pitchFamily="2" charset="0"/>
              </a:rPr>
              <a:t>Sorting and filtering</a:t>
            </a:r>
          </a:p>
          <a:p>
            <a:r>
              <a:rPr lang="en-US" sz="1800" kern="200" dirty="0">
                <a:ea typeface="Merriweather Light 18pt" pitchFamily="2" charset="0"/>
                <a:cs typeface="Merriweather Light 18pt" pitchFamily="2" charset="0"/>
              </a:rPr>
              <a:t>Conditional formatting</a:t>
            </a:r>
          </a:p>
          <a:p>
            <a:r>
              <a:rPr lang="en-US" sz="1800" kern="200" dirty="0">
                <a:ea typeface="Merriweather Light 18pt" pitchFamily="2" charset="0"/>
                <a:cs typeface="Merriweather Light 18pt" pitchFamily="2" charset="0"/>
              </a:rPr>
              <a:t>PivotTables</a:t>
            </a:r>
          </a:p>
          <a:p>
            <a:r>
              <a:rPr lang="en-US" sz="1800" kern="200" dirty="0" err="1">
                <a:ea typeface="Merriweather Light 18pt" pitchFamily="2" charset="0"/>
                <a:cs typeface="Merriweather Light 18pt" pitchFamily="2" charset="0"/>
              </a:rPr>
              <a:t>PivotCharts</a:t>
            </a:r>
            <a:endParaRPr lang="en-US" sz="1800" kern="200" dirty="0">
              <a:ea typeface="Merriweather Light 18pt" pitchFamily="2" charset="0"/>
              <a:cs typeface="Merriweather Light 18pt" pitchFamily="2" charset="0"/>
            </a:endParaRPr>
          </a:p>
          <a:p>
            <a:endParaRPr lang="en-US" sz="1800" dirty="0">
              <a:ea typeface="Merriweather Light 18pt" pitchFamily="2" charset="0"/>
              <a:cs typeface="Merriweather Light 18pt" pitchFamily="2" charset="0"/>
            </a:endParaRPr>
          </a:p>
        </p:txBody>
      </p:sp>
      <p:sp>
        <p:nvSpPr>
          <p:cNvPr id="4" name="Slide Number Placeholder 3">
            <a:extLst>
              <a:ext uri="{FF2B5EF4-FFF2-40B4-BE49-F238E27FC236}">
                <a16:creationId xmlns:a16="http://schemas.microsoft.com/office/drawing/2014/main" id="{DFCB30E3-D8AB-76A1-85C4-7B35EE025C5D}"/>
              </a:ext>
            </a:extLst>
          </p:cNvPr>
          <p:cNvSpPr>
            <a:spLocks noGrp="1"/>
          </p:cNvSpPr>
          <p:nvPr>
            <p:ph type="sldNum" sz="quarter" idx="12"/>
          </p:nvPr>
        </p:nvSpPr>
        <p:spPr/>
        <p:txBody>
          <a:bodyPr/>
          <a:lstStyle/>
          <a:p>
            <a:fld id="{72D68BE1-19F6-402D-9E75-4E3BB4A747F9}" type="slidenum">
              <a:rPr lang="en-US" smtClean="0"/>
              <a:t>2</a:t>
            </a:fld>
            <a:endParaRPr lang="en-US"/>
          </a:p>
        </p:txBody>
      </p:sp>
    </p:spTree>
    <p:extLst>
      <p:ext uri="{BB962C8B-B14F-4D97-AF65-F5344CB8AC3E}">
        <p14:creationId xmlns:p14="http://schemas.microsoft.com/office/powerpoint/2010/main" val="2435733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C07F1-3A01-60DB-710B-EC28F8A79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BC968-CD8F-F7F9-E909-0F3D6F918560}"/>
              </a:ext>
            </a:extLst>
          </p:cNvPr>
          <p:cNvSpPr>
            <a:spLocks noGrp="1"/>
          </p:cNvSpPr>
          <p:nvPr>
            <p:ph type="title"/>
          </p:nvPr>
        </p:nvSpPr>
        <p:spPr/>
        <p:txBody>
          <a:bodyPr/>
          <a:lstStyle/>
          <a:p>
            <a:r>
              <a:rPr lang="en-US" sz="4000" dirty="0"/>
              <a:t>Data</a:t>
            </a:r>
            <a:endParaRPr lang="en-US" dirty="0"/>
          </a:p>
        </p:txBody>
      </p:sp>
      <p:sp>
        <p:nvSpPr>
          <p:cNvPr id="3" name="Content Placeholder 2">
            <a:extLst>
              <a:ext uri="{FF2B5EF4-FFF2-40B4-BE49-F238E27FC236}">
                <a16:creationId xmlns:a16="http://schemas.microsoft.com/office/drawing/2014/main" id="{0178D288-CCBB-76A7-4170-E94B58F3C6E8}"/>
              </a:ext>
            </a:extLst>
          </p:cNvPr>
          <p:cNvSpPr>
            <a:spLocks noGrp="1"/>
          </p:cNvSpPr>
          <p:nvPr>
            <p:ph idx="1"/>
          </p:nvPr>
        </p:nvSpPr>
        <p:spPr>
          <a:xfrm>
            <a:off x="1097280" y="1937310"/>
            <a:ext cx="10058400" cy="3402441"/>
          </a:xfrm>
        </p:spPr>
        <p:txBody>
          <a:bodyPr>
            <a:normAutofit/>
          </a:bodyPr>
          <a:lstStyle/>
          <a:p>
            <a:r>
              <a:rPr lang="en-US" sz="1800" dirty="0">
                <a:ea typeface="Merriweather Light 18pt" pitchFamily="2" charset="0"/>
                <a:cs typeface="Merriweather Light 18pt" pitchFamily="2" charset="0"/>
                <a:hlinkClick r:id="rId3"/>
              </a:rPr>
              <a:t>https://github.com/keikob/Workshops</a:t>
            </a:r>
            <a:endParaRPr lang="en-US" sz="1800" dirty="0">
              <a:ea typeface="Merriweather Light 18pt" pitchFamily="2" charset="0"/>
              <a:cs typeface="Merriweather Light 18pt" pitchFamily="2" charset="0"/>
            </a:endParaRPr>
          </a:p>
          <a:p>
            <a:pPr lvl="1">
              <a:spcBef>
                <a:spcPts val="600"/>
              </a:spcBef>
            </a:pPr>
            <a:r>
              <a:rPr lang="en-US" sz="1600" dirty="0">
                <a:ea typeface="Merriweather Light 18pt" pitchFamily="2" charset="0"/>
                <a:cs typeface="Merriweather Light 18pt" pitchFamily="2" charset="0"/>
              </a:rPr>
              <a:t>Bookstore_Workshop_Dataset.xlsx</a:t>
            </a:r>
          </a:p>
        </p:txBody>
      </p:sp>
      <p:sp>
        <p:nvSpPr>
          <p:cNvPr id="4" name="Slide Number Placeholder 3">
            <a:extLst>
              <a:ext uri="{FF2B5EF4-FFF2-40B4-BE49-F238E27FC236}">
                <a16:creationId xmlns:a16="http://schemas.microsoft.com/office/drawing/2014/main" id="{47172DA3-02C0-E257-5D0A-FC396900113A}"/>
              </a:ext>
            </a:extLst>
          </p:cNvPr>
          <p:cNvSpPr>
            <a:spLocks noGrp="1"/>
          </p:cNvSpPr>
          <p:nvPr>
            <p:ph type="sldNum" sz="quarter" idx="12"/>
          </p:nvPr>
        </p:nvSpPr>
        <p:spPr/>
        <p:txBody>
          <a:bodyPr/>
          <a:lstStyle/>
          <a:p>
            <a:fld id="{72D68BE1-19F6-402D-9E75-4E3BB4A747F9}" type="slidenum">
              <a:rPr lang="en-US" smtClean="0"/>
              <a:t>3</a:t>
            </a:fld>
            <a:endParaRPr lang="en-US"/>
          </a:p>
        </p:txBody>
      </p:sp>
    </p:spTree>
    <p:extLst>
      <p:ext uri="{BB962C8B-B14F-4D97-AF65-F5344CB8AC3E}">
        <p14:creationId xmlns:p14="http://schemas.microsoft.com/office/powerpoint/2010/main" val="3407393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22A1E-9A81-40C6-36FB-214AD21F564F}"/>
              </a:ext>
            </a:extLst>
          </p:cNvPr>
          <p:cNvSpPr>
            <a:spLocks noGrp="1"/>
          </p:cNvSpPr>
          <p:nvPr>
            <p:ph type="title"/>
          </p:nvPr>
        </p:nvSpPr>
        <p:spPr/>
        <p:txBody>
          <a:bodyPr/>
          <a:lstStyle/>
          <a:p>
            <a:r>
              <a:rPr lang="en-US" dirty="0"/>
              <a:t>Functions</a:t>
            </a:r>
          </a:p>
        </p:txBody>
      </p:sp>
      <p:sp>
        <p:nvSpPr>
          <p:cNvPr id="3" name="Text Placeholder 2">
            <a:extLst>
              <a:ext uri="{FF2B5EF4-FFF2-40B4-BE49-F238E27FC236}">
                <a16:creationId xmlns:a16="http://schemas.microsoft.com/office/drawing/2014/main" id="{D61218BB-7C92-BDDD-BFBA-319DF38EFB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4424C5-604B-BBE3-5E2D-8152FF64AF20}"/>
              </a:ext>
            </a:extLst>
          </p:cNvPr>
          <p:cNvSpPr>
            <a:spLocks noGrp="1"/>
          </p:cNvSpPr>
          <p:nvPr>
            <p:ph type="sldNum" sz="quarter" idx="12"/>
          </p:nvPr>
        </p:nvSpPr>
        <p:spPr/>
        <p:txBody>
          <a:bodyPr/>
          <a:lstStyle/>
          <a:p>
            <a:fld id="{72D68BE1-19F6-402D-9E75-4E3BB4A747F9}" type="slidenum">
              <a:rPr lang="en-US" smtClean="0"/>
              <a:t>4</a:t>
            </a:fld>
            <a:endParaRPr lang="en-US"/>
          </a:p>
        </p:txBody>
      </p:sp>
    </p:spTree>
    <p:extLst>
      <p:ext uri="{BB962C8B-B14F-4D97-AF65-F5344CB8AC3E}">
        <p14:creationId xmlns:p14="http://schemas.microsoft.com/office/powerpoint/2010/main" val="2479961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06D5-7A69-41E3-8971-227D519CE320}"/>
              </a:ext>
            </a:extLst>
          </p:cNvPr>
          <p:cNvSpPr>
            <a:spLocks noGrp="1"/>
          </p:cNvSpPr>
          <p:nvPr>
            <p:ph type="title"/>
          </p:nvPr>
        </p:nvSpPr>
        <p:spPr/>
        <p:txBody>
          <a:bodyPr/>
          <a:lstStyle/>
          <a:p>
            <a:r>
              <a:rPr lang="en-US" dirty="0"/>
              <a:t>Basic mathematical functions</a:t>
            </a:r>
          </a:p>
        </p:txBody>
      </p:sp>
      <p:sp>
        <p:nvSpPr>
          <p:cNvPr id="3" name="Content Placeholder 2">
            <a:extLst>
              <a:ext uri="{FF2B5EF4-FFF2-40B4-BE49-F238E27FC236}">
                <a16:creationId xmlns:a16="http://schemas.microsoft.com/office/drawing/2014/main" id="{334DAEBC-2205-4AFC-BAB0-A7C584139496}"/>
              </a:ext>
            </a:extLst>
          </p:cNvPr>
          <p:cNvSpPr>
            <a:spLocks noGrp="1"/>
          </p:cNvSpPr>
          <p:nvPr>
            <p:ph idx="1"/>
          </p:nvPr>
        </p:nvSpPr>
        <p:spPr/>
        <p:txBody>
          <a:bodyPr/>
          <a:lstStyle/>
          <a:p>
            <a:r>
              <a:rPr lang="en-US" dirty="0"/>
              <a:t>SUM()</a:t>
            </a:r>
          </a:p>
          <a:p>
            <a:pPr lvl="1"/>
            <a:r>
              <a:rPr lang="en-US" dirty="0"/>
              <a:t>Adds together the numbers in a range</a:t>
            </a:r>
          </a:p>
          <a:p>
            <a:r>
              <a:rPr lang="en-US" dirty="0"/>
              <a:t>AVERAGE()</a:t>
            </a:r>
          </a:p>
          <a:p>
            <a:pPr lvl="1"/>
            <a:r>
              <a:rPr lang="en-US" dirty="0"/>
              <a:t>Finds the average of a range of numbers</a:t>
            </a:r>
          </a:p>
          <a:p>
            <a:r>
              <a:rPr lang="en-US" dirty="0"/>
              <a:t>STDDEV.S()</a:t>
            </a:r>
          </a:p>
          <a:p>
            <a:pPr lvl="1"/>
            <a:r>
              <a:rPr lang="en-US" dirty="0"/>
              <a:t>Finds the standard deviation of a range of numbers (treating them as a sample of a population)</a:t>
            </a:r>
          </a:p>
        </p:txBody>
      </p:sp>
      <p:sp>
        <p:nvSpPr>
          <p:cNvPr id="4" name="Slide Number Placeholder 3">
            <a:extLst>
              <a:ext uri="{FF2B5EF4-FFF2-40B4-BE49-F238E27FC236}">
                <a16:creationId xmlns:a16="http://schemas.microsoft.com/office/drawing/2014/main" id="{254B58C2-45ED-4554-BE5F-EA28FE945846}"/>
              </a:ext>
            </a:extLst>
          </p:cNvPr>
          <p:cNvSpPr>
            <a:spLocks noGrp="1"/>
          </p:cNvSpPr>
          <p:nvPr>
            <p:ph type="sldNum" sz="quarter" idx="12"/>
          </p:nvPr>
        </p:nvSpPr>
        <p:spPr/>
        <p:txBody>
          <a:bodyPr/>
          <a:lstStyle/>
          <a:p>
            <a:fld id="{72D68BE1-19F6-402D-9E75-4E3BB4A747F9}" type="slidenum">
              <a:rPr lang="en-US" smtClean="0"/>
              <a:t>5</a:t>
            </a:fld>
            <a:endParaRPr lang="en-US"/>
          </a:p>
        </p:txBody>
      </p:sp>
    </p:spTree>
    <p:extLst>
      <p:ext uri="{BB962C8B-B14F-4D97-AF65-F5344CB8AC3E}">
        <p14:creationId xmlns:p14="http://schemas.microsoft.com/office/powerpoint/2010/main" val="2992914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Logical tests</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a:bodyPr>
          <a:lstStyle/>
          <a:p>
            <a:r>
              <a:rPr lang="en-US" dirty="0"/>
              <a:t>Equal to				=</a:t>
            </a:r>
          </a:p>
          <a:p>
            <a:r>
              <a:rPr lang="en-US" dirty="0"/>
              <a:t>Greater than			&gt;</a:t>
            </a:r>
          </a:p>
          <a:p>
            <a:r>
              <a:rPr lang="en-US" dirty="0"/>
              <a:t>Less than				&lt;</a:t>
            </a:r>
          </a:p>
          <a:p>
            <a:r>
              <a:rPr lang="en-US" dirty="0"/>
              <a:t>Greater than or equal to		&gt;=</a:t>
            </a:r>
          </a:p>
          <a:p>
            <a:r>
              <a:rPr lang="en-US" dirty="0"/>
              <a:t>Less than or equal to		&lt;=</a:t>
            </a:r>
          </a:p>
          <a:p>
            <a:r>
              <a:rPr lang="en-US" dirty="0"/>
              <a:t>Not equal to			&lt;&gt;</a:t>
            </a:r>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6</a:t>
            </a:fld>
            <a:endParaRPr lang="en-US"/>
          </a:p>
        </p:txBody>
      </p:sp>
    </p:spTree>
    <p:extLst>
      <p:ext uri="{BB962C8B-B14F-4D97-AF65-F5344CB8AC3E}">
        <p14:creationId xmlns:p14="http://schemas.microsoft.com/office/powerpoint/2010/main" val="3026074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Boolean operators</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lnSpcReduction="10000"/>
          </a:bodyPr>
          <a:lstStyle/>
          <a:p>
            <a:r>
              <a:rPr lang="en-US" dirty="0"/>
              <a:t>AND()</a:t>
            </a:r>
          </a:p>
          <a:p>
            <a:pPr lvl="1"/>
            <a:r>
              <a:rPr lang="en-US" dirty="0"/>
              <a:t>Unlimited list of arguments, all containing logical tests (e.g., &gt;5) that will be evaluated as TRUE or FALSE</a:t>
            </a:r>
          </a:p>
          <a:p>
            <a:pPr lvl="1"/>
            <a:r>
              <a:rPr lang="en-US" dirty="0"/>
              <a:t>Returns TRUE if all statements are true, and FALSE if any are false</a:t>
            </a:r>
          </a:p>
          <a:p>
            <a:r>
              <a:rPr lang="en-US" dirty="0"/>
              <a:t>OR()</a:t>
            </a:r>
          </a:p>
          <a:p>
            <a:pPr lvl="1"/>
            <a:r>
              <a:rPr lang="en-US" dirty="0"/>
              <a:t>Unlimited list of arguments, all containing logical tests (e.g., &gt;5) that will be evaluated as TRUE or FALSE</a:t>
            </a:r>
          </a:p>
          <a:p>
            <a:pPr lvl="1"/>
            <a:r>
              <a:rPr lang="en-US" dirty="0"/>
              <a:t>Returns TRUE if any statements are true, and FALSE if all are false</a:t>
            </a:r>
          </a:p>
          <a:p>
            <a:r>
              <a:rPr lang="en-US" dirty="0"/>
              <a:t>NOT()</a:t>
            </a:r>
          </a:p>
          <a:p>
            <a:pPr lvl="1"/>
            <a:r>
              <a:rPr lang="en-US" dirty="0"/>
              <a:t>Single argument, containing a logical tests</a:t>
            </a:r>
          </a:p>
          <a:p>
            <a:pPr lvl="1"/>
            <a:r>
              <a:rPr lang="en-US" dirty="0"/>
              <a:t>Returns the opposite of the result (e.g. FALSE for TRUE)</a:t>
            </a:r>
          </a:p>
          <a:p>
            <a:endParaRPr lang="en-US" dirty="0"/>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7</a:t>
            </a:fld>
            <a:endParaRPr lang="en-US"/>
          </a:p>
        </p:txBody>
      </p:sp>
    </p:spTree>
    <p:extLst>
      <p:ext uri="{BB962C8B-B14F-4D97-AF65-F5344CB8AC3E}">
        <p14:creationId xmlns:p14="http://schemas.microsoft.com/office/powerpoint/2010/main" val="4078045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Formulas that count cells</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fontScale="92500" lnSpcReduction="20000"/>
          </a:bodyPr>
          <a:lstStyle/>
          <a:p>
            <a:r>
              <a:rPr lang="en-US" dirty="0"/>
              <a:t>COUNT</a:t>
            </a:r>
          </a:p>
          <a:p>
            <a:pPr lvl="1"/>
            <a:r>
              <a:rPr lang="en-US" dirty="0"/>
              <a:t>Counts cells that contain numbers</a:t>
            </a:r>
          </a:p>
          <a:p>
            <a:pPr lvl="1"/>
            <a:r>
              <a:rPr lang="en-US" dirty="0"/>
              <a:t>=COUNT(range)</a:t>
            </a:r>
          </a:p>
          <a:p>
            <a:pPr lvl="1"/>
            <a:r>
              <a:rPr lang="en-US" dirty="0"/>
              <a:t>Ex. =COUNT(A1:A20)</a:t>
            </a:r>
          </a:p>
          <a:p>
            <a:r>
              <a:rPr lang="en-US" dirty="0"/>
              <a:t>COUNTA</a:t>
            </a:r>
          </a:p>
          <a:p>
            <a:pPr lvl="1"/>
            <a:r>
              <a:rPr lang="en-US" dirty="0"/>
              <a:t>Counts cells that contain text</a:t>
            </a:r>
          </a:p>
          <a:p>
            <a:pPr lvl="1"/>
            <a:r>
              <a:rPr lang="en-US" dirty="0"/>
              <a:t>=COUNTA(range)</a:t>
            </a:r>
          </a:p>
          <a:p>
            <a:pPr lvl="1"/>
            <a:r>
              <a:rPr lang="en-US" dirty="0"/>
              <a:t>Ex. =COUNTA(A1:A20)</a:t>
            </a:r>
          </a:p>
          <a:p>
            <a:r>
              <a:rPr lang="en-US" dirty="0"/>
              <a:t>COUNTIF</a:t>
            </a:r>
          </a:p>
          <a:p>
            <a:pPr lvl="1"/>
            <a:r>
              <a:rPr lang="en-US" dirty="0"/>
              <a:t>Counts cells that contains specific text</a:t>
            </a:r>
          </a:p>
          <a:p>
            <a:pPr lvl="1"/>
            <a:r>
              <a:rPr lang="en-US" dirty="0"/>
              <a:t>=COUNTIF(range, criteria)</a:t>
            </a:r>
          </a:p>
          <a:p>
            <a:pPr lvl="1"/>
            <a:r>
              <a:rPr lang="en-US" dirty="0"/>
              <a:t>Ex. =COUNTIF(A1:A20, “&gt;5”), =COUNTIF(A1:A20, “</a:t>
            </a:r>
            <a:r>
              <a:rPr lang="en-US" dirty="0" err="1"/>
              <a:t>abc</a:t>
            </a:r>
            <a:r>
              <a:rPr lang="en-US" dirty="0"/>
              <a:t>”)</a:t>
            </a:r>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8</a:t>
            </a:fld>
            <a:endParaRPr lang="en-US"/>
          </a:p>
        </p:txBody>
      </p:sp>
    </p:spTree>
    <p:extLst>
      <p:ext uri="{BB962C8B-B14F-4D97-AF65-F5344CB8AC3E}">
        <p14:creationId xmlns:p14="http://schemas.microsoft.com/office/powerpoint/2010/main" val="2070171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normAutofit/>
          </a:bodyPr>
          <a:lstStyle/>
          <a:p>
            <a:r>
              <a:rPr lang="en-US"/>
              <a:t>Manipulating text</a:t>
            </a:r>
            <a:endParaRPr lang="en-US" dirty="0"/>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fontScale="85000" lnSpcReduction="20000"/>
          </a:bodyPr>
          <a:lstStyle/>
          <a:p>
            <a:r>
              <a:rPr lang="en-US" dirty="0"/>
              <a:t>LEFT() and RIGHT()</a:t>
            </a:r>
          </a:p>
          <a:p>
            <a:pPr lvl="1"/>
            <a:r>
              <a:rPr lang="en-US" dirty="0"/>
              <a:t>Returns the specific number of characters from the left/right of a cell</a:t>
            </a:r>
          </a:p>
          <a:p>
            <a:pPr lvl="1"/>
            <a:r>
              <a:rPr lang="en-US" dirty="0"/>
              <a:t>=LEFT(cell, </a:t>
            </a:r>
            <a:r>
              <a:rPr lang="en-US" dirty="0" err="1"/>
              <a:t>num_of_characters</a:t>
            </a:r>
            <a:r>
              <a:rPr lang="en-US" dirty="0"/>
              <a:t>)</a:t>
            </a:r>
          </a:p>
          <a:p>
            <a:pPr lvl="1"/>
            <a:r>
              <a:rPr lang="en-US" dirty="0"/>
              <a:t>Ex. =LEFT(A1, 3)</a:t>
            </a:r>
          </a:p>
          <a:p>
            <a:r>
              <a:rPr lang="en-US" dirty="0"/>
              <a:t>LEN()</a:t>
            </a:r>
          </a:p>
          <a:p>
            <a:pPr lvl="1"/>
            <a:r>
              <a:rPr lang="en-US" dirty="0"/>
              <a:t>Returns the number of characters in a cell</a:t>
            </a:r>
          </a:p>
          <a:p>
            <a:pPr lvl="1"/>
            <a:r>
              <a:rPr lang="en-US" dirty="0"/>
              <a:t>= LEN(cell)</a:t>
            </a:r>
          </a:p>
          <a:p>
            <a:pPr lvl="1"/>
            <a:r>
              <a:rPr lang="en-US" dirty="0"/>
              <a:t>Ex. =LEN(A1)</a:t>
            </a:r>
          </a:p>
          <a:p>
            <a:r>
              <a:rPr lang="en-US" dirty="0"/>
              <a:t>&amp;</a:t>
            </a:r>
          </a:p>
          <a:p>
            <a:pPr lvl="1"/>
            <a:r>
              <a:rPr lang="en-US" dirty="0"/>
              <a:t>Combines text from multiple cells</a:t>
            </a:r>
          </a:p>
          <a:p>
            <a:pPr lvl="1"/>
            <a:r>
              <a:rPr lang="en-US" dirty="0"/>
              <a:t>= cell &amp; cell</a:t>
            </a:r>
          </a:p>
          <a:p>
            <a:pPr lvl="1"/>
            <a:r>
              <a:rPr lang="en-US" dirty="0"/>
              <a:t>Ex. =A1&amp;B1</a:t>
            </a:r>
          </a:p>
          <a:p>
            <a:pPr lvl="1"/>
            <a:r>
              <a:rPr lang="en-US" dirty="0"/>
              <a:t>To include your own text, =A1&amp;”text”</a:t>
            </a:r>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9</a:t>
            </a:fld>
            <a:endParaRPr lang="en-US"/>
          </a:p>
        </p:txBody>
      </p:sp>
    </p:spTree>
    <p:extLst>
      <p:ext uri="{BB962C8B-B14F-4D97-AF65-F5344CB8AC3E}">
        <p14:creationId xmlns:p14="http://schemas.microsoft.com/office/powerpoint/2010/main" val="448232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D7A68-E02E-45E3-BA06-ADD4952E6605}"/>
              </a:ext>
            </a:extLst>
          </p:cNvPr>
          <p:cNvSpPr>
            <a:spLocks noGrp="1"/>
          </p:cNvSpPr>
          <p:nvPr>
            <p:ph type="title"/>
          </p:nvPr>
        </p:nvSpPr>
        <p:spPr/>
        <p:txBody>
          <a:bodyPr/>
          <a:lstStyle/>
          <a:p>
            <a:r>
              <a:rPr lang="en-US" dirty="0"/>
              <a:t>If-then statements</a:t>
            </a:r>
          </a:p>
        </p:txBody>
      </p:sp>
      <p:sp>
        <p:nvSpPr>
          <p:cNvPr id="3" name="Content Placeholder 2">
            <a:extLst>
              <a:ext uri="{FF2B5EF4-FFF2-40B4-BE49-F238E27FC236}">
                <a16:creationId xmlns:a16="http://schemas.microsoft.com/office/drawing/2014/main" id="{36CDA290-1CEC-497C-8180-F0583714478E}"/>
              </a:ext>
            </a:extLst>
          </p:cNvPr>
          <p:cNvSpPr>
            <a:spLocks noGrp="1"/>
          </p:cNvSpPr>
          <p:nvPr>
            <p:ph idx="1"/>
          </p:nvPr>
        </p:nvSpPr>
        <p:spPr/>
        <p:txBody>
          <a:bodyPr/>
          <a:lstStyle/>
          <a:p>
            <a:r>
              <a:rPr lang="en-US" dirty="0"/>
              <a:t>IF</a:t>
            </a:r>
          </a:p>
          <a:p>
            <a:pPr lvl="1"/>
            <a:r>
              <a:rPr lang="en-US" dirty="0"/>
              <a:t>Checks whether a condition is met, and returns one value if TRUE, and another if FALSE</a:t>
            </a:r>
          </a:p>
          <a:p>
            <a:pPr lvl="1"/>
            <a:r>
              <a:rPr lang="en-US" dirty="0"/>
              <a:t>=IF(</a:t>
            </a:r>
            <a:r>
              <a:rPr lang="en-US" dirty="0" err="1"/>
              <a:t>logical_test</a:t>
            </a:r>
            <a:r>
              <a:rPr lang="en-US" dirty="0"/>
              <a:t>, </a:t>
            </a:r>
            <a:r>
              <a:rPr lang="en-US" dirty="0" err="1"/>
              <a:t>value_if_true</a:t>
            </a:r>
            <a:r>
              <a:rPr lang="en-US" dirty="0"/>
              <a:t>, </a:t>
            </a:r>
            <a:r>
              <a:rPr lang="en-US" dirty="0" err="1"/>
              <a:t>value_if_false</a:t>
            </a:r>
            <a:r>
              <a:rPr lang="en-US" dirty="0"/>
              <a:t>)</a:t>
            </a:r>
          </a:p>
          <a:p>
            <a:pPr lvl="1"/>
            <a:r>
              <a:rPr lang="en-US" dirty="0"/>
              <a:t>Ex. =IF(A1&gt;5, “Yes”, “No”)</a:t>
            </a:r>
          </a:p>
          <a:p>
            <a:r>
              <a:rPr lang="en-US" dirty="0"/>
              <a:t>IFS</a:t>
            </a:r>
          </a:p>
          <a:p>
            <a:pPr lvl="1"/>
            <a:r>
              <a:rPr lang="en-US" dirty="0"/>
              <a:t>Checks whether one or more conditions are met, and returns a value corresponding to the first TRUE condition</a:t>
            </a:r>
          </a:p>
          <a:p>
            <a:pPr lvl="1"/>
            <a:r>
              <a:rPr lang="en-US" dirty="0"/>
              <a:t>=IF(logical_test1, value_if_true1, logical_test2, value_if_true2, …)</a:t>
            </a:r>
          </a:p>
          <a:p>
            <a:pPr lvl="1"/>
            <a:r>
              <a:rPr lang="en-US" dirty="0"/>
              <a:t>Ex. =IF(A1&gt;500, “large”, A1&gt;300, “medium”, A1&gt;100, “small”, A1&lt;=100, “tiny”)</a:t>
            </a:r>
          </a:p>
          <a:p>
            <a:endParaRPr lang="en-US" dirty="0"/>
          </a:p>
        </p:txBody>
      </p:sp>
      <p:sp>
        <p:nvSpPr>
          <p:cNvPr id="4" name="Slide Number Placeholder 3">
            <a:extLst>
              <a:ext uri="{FF2B5EF4-FFF2-40B4-BE49-F238E27FC236}">
                <a16:creationId xmlns:a16="http://schemas.microsoft.com/office/drawing/2014/main" id="{AF0AAE22-C93C-4808-B499-CC3992E66343}"/>
              </a:ext>
            </a:extLst>
          </p:cNvPr>
          <p:cNvSpPr>
            <a:spLocks noGrp="1"/>
          </p:cNvSpPr>
          <p:nvPr>
            <p:ph type="sldNum" sz="quarter" idx="12"/>
          </p:nvPr>
        </p:nvSpPr>
        <p:spPr/>
        <p:txBody>
          <a:bodyPr/>
          <a:lstStyle/>
          <a:p>
            <a:fld id="{72D68BE1-19F6-402D-9E75-4E3BB4A747F9}" type="slidenum">
              <a:rPr lang="en-US" smtClean="0"/>
              <a:t>10</a:t>
            </a:fld>
            <a:endParaRPr lang="en-US"/>
          </a:p>
        </p:txBody>
      </p:sp>
    </p:spTree>
    <p:extLst>
      <p:ext uri="{BB962C8B-B14F-4D97-AF65-F5344CB8AC3E}">
        <p14:creationId xmlns:p14="http://schemas.microsoft.com/office/powerpoint/2010/main" val="2462596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36175-9F68-F021-11AF-6588B53CE3AA}"/>
              </a:ext>
            </a:extLst>
          </p:cNvPr>
          <p:cNvSpPr>
            <a:spLocks noGrp="1"/>
          </p:cNvSpPr>
          <p:nvPr>
            <p:ph type="title"/>
          </p:nvPr>
        </p:nvSpPr>
        <p:spPr/>
        <p:txBody>
          <a:bodyPr/>
          <a:lstStyle/>
          <a:p>
            <a:r>
              <a:rPr lang="en-US" dirty="0"/>
              <a:t>PivotTables</a:t>
            </a:r>
          </a:p>
        </p:txBody>
      </p:sp>
      <p:sp>
        <p:nvSpPr>
          <p:cNvPr id="3" name="Text Placeholder 2">
            <a:extLst>
              <a:ext uri="{FF2B5EF4-FFF2-40B4-BE49-F238E27FC236}">
                <a16:creationId xmlns:a16="http://schemas.microsoft.com/office/drawing/2014/main" id="{55E37CB1-398B-AC4B-45CE-5082891116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FC8B17-81C6-C87E-7C4B-5E54EB94B1BC}"/>
              </a:ext>
            </a:extLst>
          </p:cNvPr>
          <p:cNvSpPr>
            <a:spLocks noGrp="1"/>
          </p:cNvSpPr>
          <p:nvPr>
            <p:ph type="sldNum" sz="quarter" idx="12"/>
          </p:nvPr>
        </p:nvSpPr>
        <p:spPr/>
        <p:txBody>
          <a:bodyPr/>
          <a:lstStyle/>
          <a:p>
            <a:fld id="{72D68BE1-19F6-402D-9E75-4E3BB4A747F9}" type="slidenum">
              <a:rPr lang="en-US" smtClean="0"/>
              <a:t>11</a:t>
            </a:fld>
            <a:endParaRPr lang="en-US"/>
          </a:p>
        </p:txBody>
      </p:sp>
      <p:grpSp>
        <p:nvGrpSpPr>
          <p:cNvPr id="5" name="Group 2">
            <a:extLst>
              <a:ext uri="{FF2B5EF4-FFF2-40B4-BE49-F238E27FC236}">
                <a16:creationId xmlns:a16="http://schemas.microsoft.com/office/drawing/2014/main" id="{1DFFF6B4-866E-E23C-906E-093A414CC2DC}"/>
              </a:ext>
            </a:extLst>
          </p:cNvPr>
          <p:cNvGrpSpPr/>
          <p:nvPr/>
        </p:nvGrpSpPr>
        <p:grpSpPr>
          <a:xfrm>
            <a:off x="268159" y="64729"/>
            <a:ext cx="11746987" cy="6034319"/>
            <a:chOff x="0" y="0"/>
            <a:chExt cx="23493974" cy="13413897"/>
          </a:xfrm>
        </p:grpSpPr>
        <p:sp>
          <p:nvSpPr>
            <p:cNvPr id="6" name="Freeform 3">
              <a:extLst>
                <a:ext uri="{FF2B5EF4-FFF2-40B4-BE49-F238E27FC236}">
                  <a16:creationId xmlns:a16="http://schemas.microsoft.com/office/drawing/2014/main" id="{BAE56EF5-BC3A-019F-F5AE-EEAC0EB67FE8}"/>
                </a:ext>
              </a:extLst>
            </p:cNvPr>
            <p:cNvSpPr/>
            <p:nvPr/>
          </p:nvSpPr>
          <p:spPr>
            <a:xfrm rot="817283">
              <a:off x="1034380" y="253885"/>
              <a:ext cx="2392150" cy="1976514"/>
            </a:xfrm>
            <a:custGeom>
              <a:avLst/>
              <a:gdLst/>
              <a:ahLst/>
              <a:cxnLst/>
              <a:rect l="l" t="t" r="r" b="b"/>
              <a:pathLst>
                <a:path w="2392150" h="1976514">
                  <a:moveTo>
                    <a:pt x="0" y="0"/>
                  </a:moveTo>
                  <a:lnTo>
                    <a:pt x="2392150" y="0"/>
                  </a:lnTo>
                  <a:lnTo>
                    <a:pt x="2392150" y="1976514"/>
                  </a:lnTo>
                  <a:lnTo>
                    <a:pt x="0" y="197651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sz="1200"/>
            </a:p>
          </p:txBody>
        </p:sp>
        <p:sp>
          <p:nvSpPr>
            <p:cNvPr id="7" name="Freeform 4">
              <a:extLst>
                <a:ext uri="{FF2B5EF4-FFF2-40B4-BE49-F238E27FC236}">
                  <a16:creationId xmlns:a16="http://schemas.microsoft.com/office/drawing/2014/main" id="{DD274439-3CCA-6AD2-EB2B-2B8D97385699}"/>
                </a:ext>
              </a:extLst>
            </p:cNvPr>
            <p:cNvSpPr/>
            <p:nvPr/>
          </p:nvSpPr>
          <p:spPr>
            <a:xfrm rot="5529490">
              <a:off x="-99994" y="2263253"/>
              <a:ext cx="1463212" cy="1208979"/>
            </a:xfrm>
            <a:custGeom>
              <a:avLst/>
              <a:gdLst/>
              <a:ahLst/>
              <a:cxnLst/>
              <a:rect l="l" t="t" r="r" b="b"/>
              <a:pathLst>
                <a:path w="1463212" h="1208979">
                  <a:moveTo>
                    <a:pt x="0" y="0"/>
                  </a:moveTo>
                  <a:lnTo>
                    <a:pt x="1463211" y="0"/>
                  </a:lnTo>
                  <a:lnTo>
                    <a:pt x="1463211" y="1208978"/>
                  </a:lnTo>
                  <a:lnTo>
                    <a:pt x="0" y="12089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8" name="Freeform 5">
              <a:extLst>
                <a:ext uri="{FF2B5EF4-FFF2-40B4-BE49-F238E27FC236}">
                  <a16:creationId xmlns:a16="http://schemas.microsoft.com/office/drawing/2014/main" id="{297B8A90-5892-2865-1872-18CDB1DBF887}"/>
                </a:ext>
              </a:extLst>
            </p:cNvPr>
            <p:cNvSpPr/>
            <p:nvPr/>
          </p:nvSpPr>
          <p:spPr>
            <a:xfrm rot="4796821">
              <a:off x="22039452" y="11983515"/>
              <a:ext cx="1463212" cy="1208979"/>
            </a:xfrm>
            <a:custGeom>
              <a:avLst/>
              <a:gdLst/>
              <a:ahLst/>
              <a:cxnLst/>
              <a:rect l="l" t="t" r="r" b="b"/>
              <a:pathLst>
                <a:path w="1463212" h="1208979">
                  <a:moveTo>
                    <a:pt x="0" y="0"/>
                  </a:moveTo>
                  <a:lnTo>
                    <a:pt x="1463212" y="0"/>
                  </a:lnTo>
                  <a:lnTo>
                    <a:pt x="1463212" y="1208979"/>
                  </a:lnTo>
                  <a:lnTo>
                    <a:pt x="0" y="12089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sz="1200"/>
            </a:p>
          </p:txBody>
        </p:sp>
      </p:grpSp>
    </p:spTree>
    <p:extLst>
      <p:ext uri="{BB962C8B-B14F-4D97-AF65-F5344CB8AC3E}">
        <p14:creationId xmlns:p14="http://schemas.microsoft.com/office/powerpoint/2010/main" val="1017693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06D5-7A69-41E3-8971-227D519CE320}"/>
              </a:ext>
            </a:extLst>
          </p:cNvPr>
          <p:cNvSpPr>
            <a:spLocks noGrp="1"/>
          </p:cNvSpPr>
          <p:nvPr>
            <p:ph type="title"/>
          </p:nvPr>
        </p:nvSpPr>
        <p:spPr/>
        <p:txBody>
          <a:bodyPr/>
          <a:lstStyle/>
          <a:p>
            <a:r>
              <a:rPr lang="en-US" dirty="0"/>
              <a:t>What is a pivot table?</a:t>
            </a:r>
          </a:p>
        </p:txBody>
      </p:sp>
      <p:sp>
        <p:nvSpPr>
          <p:cNvPr id="3" name="Content Placeholder 2">
            <a:extLst>
              <a:ext uri="{FF2B5EF4-FFF2-40B4-BE49-F238E27FC236}">
                <a16:creationId xmlns:a16="http://schemas.microsoft.com/office/drawing/2014/main" id="{334DAEBC-2205-4AFC-BAB0-A7C584139496}"/>
              </a:ext>
            </a:extLst>
          </p:cNvPr>
          <p:cNvSpPr>
            <a:spLocks noGrp="1"/>
          </p:cNvSpPr>
          <p:nvPr>
            <p:ph idx="1"/>
          </p:nvPr>
        </p:nvSpPr>
        <p:spPr/>
        <p:txBody>
          <a:bodyPr/>
          <a:lstStyle/>
          <a:p>
            <a:r>
              <a:rPr lang="en-US" dirty="0"/>
              <a:t>When you have data with a lot of variables, you often want to be able to summarize it in multiple different ways.</a:t>
            </a:r>
          </a:p>
          <a:p>
            <a:r>
              <a:rPr lang="en-US" dirty="0"/>
              <a:t>You may want to look at the dependent variable(s) across several different predictors, and you may want to combine these predictors together or nest them inside each other.</a:t>
            </a:r>
          </a:p>
          <a:p>
            <a:r>
              <a:rPr lang="en-US" dirty="0"/>
              <a:t>Excel’s PivotTable function is a way to have Excel summarize your data in a table format for you, and to quickly shuffle categories around to look at the data in different ways.</a:t>
            </a:r>
          </a:p>
        </p:txBody>
      </p:sp>
      <p:sp>
        <p:nvSpPr>
          <p:cNvPr id="4" name="Slide Number Placeholder 3">
            <a:extLst>
              <a:ext uri="{FF2B5EF4-FFF2-40B4-BE49-F238E27FC236}">
                <a16:creationId xmlns:a16="http://schemas.microsoft.com/office/drawing/2014/main" id="{254B58C2-45ED-4554-BE5F-EA28FE945846}"/>
              </a:ext>
            </a:extLst>
          </p:cNvPr>
          <p:cNvSpPr>
            <a:spLocks noGrp="1"/>
          </p:cNvSpPr>
          <p:nvPr>
            <p:ph type="sldNum" sz="quarter" idx="12"/>
          </p:nvPr>
        </p:nvSpPr>
        <p:spPr/>
        <p:txBody>
          <a:bodyPr/>
          <a:lstStyle/>
          <a:p>
            <a:fld id="{72D68BE1-19F6-402D-9E75-4E3BB4A747F9}" type="slidenum">
              <a:rPr lang="en-US" smtClean="0"/>
              <a:t>12</a:t>
            </a:fld>
            <a:endParaRPr lang="en-US"/>
          </a:p>
        </p:txBody>
      </p:sp>
    </p:spTree>
    <p:extLst>
      <p:ext uri="{BB962C8B-B14F-4D97-AF65-F5344CB8AC3E}">
        <p14:creationId xmlns:p14="http://schemas.microsoft.com/office/powerpoint/2010/main" val="2146676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How to insert a pivot table</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fontScale="92500" lnSpcReduction="20000"/>
          </a:bodyPr>
          <a:lstStyle/>
          <a:p>
            <a:pPr marL="640080" indent="-457200">
              <a:buFont typeface="+mj-lt"/>
              <a:buAutoNum type="arabicPeriod"/>
            </a:pPr>
            <a:r>
              <a:rPr lang="en-US" dirty="0"/>
              <a:t>Go to the Insert tab.</a:t>
            </a:r>
          </a:p>
          <a:p>
            <a:pPr marL="640080" indent="-457200">
              <a:buFont typeface="+mj-lt"/>
              <a:buAutoNum type="arabicPeriod"/>
            </a:pPr>
            <a:r>
              <a:rPr lang="en-US" dirty="0"/>
              <a:t>With a cell inside your data selected, click PivotTable.</a:t>
            </a:r>
          </a:p>
          <a:p>
            <a:pPr marL="640080" indent="-457200">
              <a:buFont typeface="+mj-lt"/>
              <a:buAutoNum type="arabicPeriod"/>
            </a:pPr>
            <a:r>
              <a:rPr lang="en-US" dirty="0"/>
              <a:t>A pop-up will appear asking for your range of data.  It should have automatically selected your full </a:t>
            </a:r>
            <a:r>
              <a:rPr lang="en-US" dirty="0" err="1"/>
              <a:t>dataframe</a:t>
            </a:r>
            <a:r>
              <a:rPr lang="en-US" dirty="0"/>
              <a:t>, but you can check to make sure all the columns and rows are included.</a:t>
            </a:r>
          </a:p>
          <a:p>
            <a:pPr marL="640080" indent="-457200">
              <a:buFont typeface="+mj-lt"/>
              <a:buAutoNum type="arabicPeriod"/>
            </a:pPr>
            <a:r>
              <a:rPr lang="en-US" dirty="0"/>
              <a:t>Tell it to send the pivot table to a new worksheet.  (This should already be selected.)</a:t>
            </a:r>
          </a:p>
          <a:p>
            <a:pPr marL="640080" indent="-457200">
              <a:buFont typeface="+mj-lt"/>
              <a:buAutoNum type="arabicPeriod"/>
            </a:pPr>
            <a:r>
              <a:rPr lang="en-US" dirty="0"/>
              <a:t>This will pull up a new sheet with an empty area for a table, and a panel on the right containing a list of column headings.</a:t>
            </a:r>
          </a:p>
          <a:p>
            <a:pPr marL="640080" indent="-457200">
              <a:buFont typeface="+mj-lt"/>
              <a:buAutoNum type="arabicPeriod"/>
            </a:pPr>
            <a:r>
              <a:rPr lang="en-US" dirty="0"/>
              <a:t>Drag an independent variable to the box labeled Rows, and a dependent variable to the box labeled Values.</a:t>
            </a:r>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13</a:t>
            </a:fld>
            <a:endParaRPr lang="en-US"/>
          </a:p>
        </p:txBody>
      </p:sp>
    </p:spTree>
    <p:extLst>
      <p:ext uri="{BB962C8B-B14F-4D97-AF65-F5344CB8AC3E}">
        <p14:creationId xmlns:p14="http://schemas.microsoft.com/office/powerpoint/2010/main" val="635538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Types of values</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lnSpcReduction="10000"/>
          </a:bodyPr>
          <a:lstStyle/>
          <a:p>
            <a:r>
              <a:rPr lang="en-US" b="1" dirty="0"/>
              <a:t>Sum</a:t>
            </a:r>
            <a:r>
              <a:rPr lang="en-US" dirty="0"/>
              <a:t>: all of the values within a category are added together</a:t>
            </a:r>
          </a:p>
          <a:p>
            <a:r>
              <a:rPr lang="en-US" b="1" dirty="0"/>
              <a:t>Count</a:t>
            </a:r>
            <a:r>
              <a:rPr lang="en-US" dirty="0"/>
              <a:t>: all the cells within a category are counted</a:t>
            </a:r>
          </a:p>
          <a:p>
            <a:r>
              <a:rPr lang="en-US" b="1" dirty="0"/>
              <a:t>Average</a:t>
            </a:r>
            <a:r>
              <a:rPr lang="en-US" dirty="0"/>
              <a:t>: all of the values within a category are averaged</a:t>
            </a:r>
          </a:p>
          <a:p>
            <a:r>
              <a:rPr lang="en-US" dirty="0"/>
              <a:t>Other types: maximum, minimum, product, standard deviation…</a:t>
            </a:r>
          </a:p>
          <a:p>
            <a:endParaRPr lang="en-US" dirty="0"/>
          </a:p>
          <a:p>
            <a:r>
              <a:rPr lang="en-US" dirty="0"/>
              <a:t>Select the value type by clicking on the drop-down arrow under Values and choosing Value Field Settings.</a:t>
            </a:r>
          </a:p>
          <a:p>
            <a:r>
              <a:rPr lang="en-US" dirty="0"/>
              <a:t>The pivot table will automatically select Sum by default, but in most cases, you’ll want to use Average.</a:t>
            </a:r>
          </a:p>
          <a:p>
            <a:endParaRPr lang="en-US" dirty="0"/>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14</a:t>
            </a:fld>
            <a:endParaRPr lang="en-US"/>
          </a:p>
        </p:txBody>
      </p:sp>
    </p:spTree>
    <p:extLst>
      <p:ext uri="{BB962C8B-B14F-4D97-AF65-F5344CB8AC3E}">
        <p14:creationId xmlns:p14="http://schemas.microsoft.com/office/powerpoint/2010/main" val="2494489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Sorting and grouping</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a:bodyPr>
          <a:lstStyle/>
          <a:p>
            <a:r>
              <a:rPr lang="en-US" dirty="0"/>
              <a:t>To sort a column, such as by alphabetical order or from largest to smallest, right-click in the column you want, go to Sort, and choose “Sort smallest to largest” or “Sort largest to smallest”.</a:t>
            </a:r>
          </a:p>
          <a:p>
            <a:r>
              <a:rPr lang="en-US" dirty="0"/>
              <a:t>To manually shuffle rows or columns, click on a cell and drag it.</a:t>
            </a:r>
          </a:p>
          <a:p>
            <a:r>
              <a:rPr lang="en-US" dirty="0"/>
              <a:t>To group rows together:</a:t>
            </a:r>
          </a:p>
          <a:p>
            <a:pPr lvl="1"/>
            <a:r>
              <a:rPr lang="en-US" dirty="0"/>
              <a:t>For numeric variables, right-click on a label in the leftmost column and click Group.  Choose what you want your range to be, and how wide you want the bins to be.  For example, to divide the years 1973-1999 into 1970s, 1980s, and 1990s, you would choose “Starting at: 1970”, “Ending at: 1999”, and “By: 10”.</a:t>
            </a:r>
          </a:p>
          <a:p>
            <a:pPr lvl="1"/>
            <a:r>
              <a:rPr lang="en-US" dirty="0"/>
              <a:t>For non-numeric variables, highlight the labels you want to group together, right-click, and choose Group.  Then do the same to any other labels you want to group together.</a:t>
            </a:r>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15</a:t>
            </a:fld>
            <a:endParaRPr lang="en-US"/>
          </a:p>
        </p:txBody>
      </p:sp>
    </p:spTree>
    <p:extLst>
      <p:ext uri="{BB962C8B-B14F-4D97-AF65-F5344CB8AC3E}">
        <p14:creationId xmlns:p14="http://schemas.microsoft.com/office/powerpoint/2010/main" val="1631805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Multidimensional tables</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a:xfrm>
            <a:off x="1097279" y="1937310"/>
            <a:ext cx="10058400" cy="3931784"/>
          </a:xfrm>
        </p:spPr>
        <p:txBody>
          <a:bodyPr>
            <a:normAutofit/>
          </a:bodyPr>
          <a:lstStyle/>
          <a:p>
            <a:r>
              <a:rPr lang="en-US" dirty="0"/>
              <a:t>Including multiple variables in the Rows field means that your second variable will be listed as a subset of the first</a:t>
            </a:r>
          </a:p>
          <a:p>
            <a:r>
              <a:rPr lang="en-US" dirty="0"/>
              <a:t>Including multiple variables in the Values field means that each dependent variable is listed as a separate column.</a:t>
            </a:r>
          </a:p>
          <a:p>
            <a:r>
              <a:rPr lang="en-US" dirty="0"/>
              <a:t>Including variables in both Rows and Columns means that values are listed at the intersection of a column and row, rather than as a separate column.</a:t>
            </a:r>
          </a:p>
          <a:p>
            <a:pPr lvl="1"/>
            <a:r>
              <a:rPr lang="en-US" dirty="0"/>
              <a:t>You can only have one dependent variable when you do this!</a:t>
            </a:r>
          </a:p>
          <a:p>
            <a:pPr lvl="1"/>
            <a:endParaRPr lang="en-US" dirty="0"/>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16</a:t>
            </a:fld>
            <a:endParaRPr lang="en-US"/>
          </a:p>
        </p:txBody>
      </p:sp>
    </p:spTree>
    <p:extLst>
      <p:ext uri="{BB962C8B-B14F-4D97-AF65-F5344CB8AC3E}">
        <p14:creationId xmlns:p14="http://schemas.microsoft.com/office/powerpoint/2010/main" val="907164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Filters</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a:bodyPr>
          <a:lstStyle/>
          <a:p>
            <a:r>
              <a:rPr lang="en-US" dirty="0"/>
              <a:t>Filters allow you to get rid of data you don’t want, or to focus on a subset of your data.</a:t>
            </a:r>
          </a:p>
          <a:p>
            <a:r>
              <a:rPr lang="en-US" dirty="0"/>
              <a:t>Drag a variable into the Filters field.</a:t>
            </a:r>
          </a:p>
          <a:p>
            <a:r>
              <a:rPr lang="en-US" dirty="0"/>
              <a:t>Click the drop-down arrow next to that variable above the pivot table and select the level(s) you want to observe.</a:t>
            </a:r>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17</a:t>
            </a:fld>
            <a:endParaRPr lang="en-US"/>
          </a:p>
        </p:txBody>
      </p:sp>
    </p:spTree>
    <p:extLst>
      <p:ext uri="{BB962C8B-B14F-4D97-AF65-F5344CB8AC3E}">
        <p14:creationId xmlns:p14="http://schemas.microsoft.com/office/powerpoint/2010/main" val="4196173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lstStyle/>
          <a:p>
            <a:r>
              <a:rPr lang="en-US" dirty="0"/>
              <a:t>Changing data</a:t>
            </a:r>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a:bodyPr>
          <a:lstStyle/>
          <a:p>
            <a:r>
              <a:rPr lang="en-US" dirty="0"/>
              <a:t>If you change any part of your data, you can update the pivot table by clicking Refresh on the PivotTable Analyze tab.</a:t>
            </a:r>
          </a:p>
          <a:p>
            <a:r>
              <a:rPr lang="en-US" dirty="0"/>
              <a:t>If you need to add or delete rows or columns, go to Change Data Source and edit the range.</a:t>
            </a:r>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18</a:t>
            </a:fld>
            <a:endParaRPr lang="en-US"/>
          </a:p>
        </p:txBody>
      </p:sp>
    </p:spTree>
    <p:extLst>
      <p:ext uri="{BB962C8B-B14F-4D97-AF65-F5344CB8AC3E}">
        <p14:creationId xmlns:p14="http://schemas.microsoft.com/office/powerpoint/2010/main" val="724406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ACD-67B8-46FD-84A8-D5306E4EEA1C}"/>
              </a:ext>
            </a:extLst>
          </p:cNvPr>
          <p:cNvSpPr>
            <a:spLocks noGrp="1"/>
          </p:cNvSpPr>
          <p:nvPr>
            <p:ph type="title"/>
          </p:nvPr>
        </p:nvSpPr>
        <p:spPr/>
        <p:txBody>
          <a:bodyPr>
            <a:normAutofit/>
          </a:bodyPr>
          <a:lstStyle/>
          <a:p>
            <a:r>
              <a:rPr lang="en-US" dirty="0" err="1"/>
              <a:t>PivotCharts</a:t>
            </a:r>
            <a:endParaRPr lang="en-US" dirty="0"/>
          </a:p>
        </p:txBody>
      </p:sp>
      <p:sp>
        <p:nvSpPr>
          <p:cNvPr id="3" name="Content Placeholder 2">
            <a:extLst>
              <a:ext uri="{FF2B5EF4-FFF2-40B4-BE49-F238E27FC236}">
                <a16:creationId xmlns:a16="http://schemas.microsoft.com/office/drawing/2014/main" id="{7D2F401E-6018-405F-80A6-0E942269AD0F}"/>
              </a:ext>
            </a:extLst>
          </p:cNvPr>
          <p:cNvSpPr>
            <a:spLocks noGrp="1"/>
          </p:cNvSpPr>
          <p:nvPr>
            <p:ph idx="1"/>
          </p:nvPr>
        </p:nvSpPr>
        <p:spPr/>
        <p:txBody>
          <a:bodyPr>
            <a:normAutofit/>
          </a:bodyPr>
          <a:lstStyle/>
          <a:p>
            <a:r>
              <a:rPr lang="en-US" dirty="0"/>
              <a:t>To add a graph based on your pivot table:</a:t>
            </a:r>
          </a:p>
          <a:p>
            <a:r>
              <a:rPr lang="en-US" dirty="0"/>
              <a:t>On the PivotTable Analyze tab, select PivotChart.</a:t>
            </a:r>
          </a:p>
          <a:p>
            <a:r>
              <a:rPr lang="en-US" dirty="0"/>
              <a:t>This will bring up Excel’s standard graph functions, and you can choose a chart type.</a:t>
            </a:r>
          </a:p>
          <a:p>
            <a:r>
              <a:rPr lang="en-US" dirty="0"/>
              <a:t>Whenever you shuffle around the fields on your pivot table, the graph will change to match.</a:t>
            </a:r>
          </a:p>
          <a:p>
            <a:r>
              <a:rPr lang="en-US" dirty="0"/>
              <a:t>Any labels that you change on the pivot table will also change on the graph.</a:t>
            </a:r>
          </a:p>
        </p:txBody>
      </p:sp>
      <p:sp>
        <p:nvSpPr>
          <p:cNvPr id="4" name="Slide Number Placeholder 3">
            <a:extLst>
              <a:ext uri="{FF2B5EF4-FFF2-40B4-BE49-F238E27FC236}">
                <a16:creationId xmlns:a16="http://schemas.microsoft.com/office/drawing/2014/main" id="{ED8F60D2-58FD-401B-84EC-49E6B6482B64}"/>
              </a:ext>
            </a:extLst>
          </p:cNvPr>
          <p:cNvSpPr>
            <a:spLocks noGrp="1"/>
          </p:cNvSpPr>
          <p:nvPr>
            <p:ph type="sldNum" sz="quarter" idx="12"/>
          </p:nvPr>
        </p:nvSpPr>
        <p:spPr/>
        <p:txBody>
          <a:bodyPr/>
          <a:lstStyle/>
          <a:p>
            <a:fld id="{72D68BE1-19F6-402D-9E75-4E3BB4A747F9}" type="slidenum">
              <a:rPr lang="en-US" smtClean="0"/>
              <a:t>19</a:t>
            </a:fld>
            <a:endParaRPr lang="en-US"/>
          </a:p>
        </p:txBody>
      </p:sp>
    </p:spTree>
    <p:extLst>
      <p:ext uri="{BB962C8B-B14F-4D97-AF65-F5344CB8AC3E}">
        <p14:creationId xmlns:p14="http://schemas.microsoft.com/office/powerpoint/2010/main" val="2287825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371E-6903-A94C-9DB5-2D16FB02A843}"/>
              </a:ext>
            </a:extLst>
          </p:cNvPr>
          <p:cNvSpPr>
            <a:spLocks noGrp="1"/>
          </p:cNvSpPr>
          <p:nvPr>
            <p:ph type="title"/>
          </p:nvPr>
        </p:nvSpPr>
        <p:spPr/>
        <p:txBody>
          <a:bodyPr>
            <a:normAutofit/>
          </a:bodyPr>
          <a:lstStyle/>
          <a:p>
            <a:r>
              <a:rPr lang="en-US" sz="4000" dirty="0"/>
              <a:t>Upcoming Workshops</a:t>
            </a:r>
          </a:p>
        </p:txBody>
      </p:sp>
      <p:sp>
        <p:nvSpPr>
          <p:cNvPr id="3" name="Content Placeholder 2">
            <a:extLst>
              <a:ext uri="{FF2B5EF4-FFF2-40B4-BE49-F238E27FC236}">
                <a16:creationId xmlns:a16="http://schemas.microsoft.com/office/drawing/2014/main" id="{C55B9661-66AE-FAF5-DAFA-20944E5026DC}"/>
              </a:ext>
            </a:extLst>
          </p:cNvPr>
          <p:cNvSpPr>
            <a:spLocks noGrp="1"/>
          </p:cNvSpPr>
          <p:nvPr>
            <p:ph idx="1"/>
          </p:nvPr>
        </p:nvSpPr>
        <p:spPr/>
        <p:txBody>
          <a:bodyPr>
            <a:normAutofit/>
          </a:bodyPr>
          <a:lstStyle/>
          <a:p>
            <a:r>
              <a:rPr lang="en-US" sz="1800" kern="200" spc="100" dirty="0">
                <a:latin typeface="Merriweather Light 18pt" pitchFamily="2" charset="0"/>
                <a:ea typeface="Merriweather Light 18pt" pitchFamily="2" charset="0"/>
                <a:cs typeface="Merriweather Light 18pt" pitchFamily="2" charset="0"/>
              </a:rPr>
              <a:t>Data Wrangling in Python (Oct 16, 11am)</a:t>
            </a:r>
          </a:p>
          <a:p>
            <a:r>
              <a:rPr lang="en-US" sz="1800" kern="200" spc="100" dirty="0">
                <a:latin typeface="Merriweather Light 18pt" pitchFamily="2" charset="0"/>
                <a:ea typeface="Merriweather Light 18pt" pitchFamily="2" charset="0"/>
                <a:cs typeface="Merriweather Light 18pt" pitchFamily="2" charset="0"/>
              </a:rPr>
              <a:t>Crafting Authentic Job Applications with AI Tools (Oct 16, 12:15pm)</a:t>
            </a:r>
          </a:p>
          <a:p>
            <a:r>
              <a:rPr lang="en-US" sz="1800" kern="200" spc="100" dirty="0">
                <a:latin typeface="Merriweather Light 18pt" pitchFamily="2" charset="0"/>
                <a:ea typeface="Merriweather Light 18pt" pitchFamily="2" charset="0"/>
                <a:cs typeface="Merriweather Light 18pt" pitchFamily="2" charset="0"/>
              </a:rPr>
              <a:t>Becoming a Savvy AI User: What Everyone Should Know (Oct 29, 4pm)</a:t>
            </a:r>
          </a:p>
          <a:p>
            <a:r>
              <a:rPr lang="en-US" sz="1800" kern="200" spc="100" dirty="0">
                <a:latin typeface="Merriweather Light 18pt" pitchFamily="2" charset="0"/>
                <a:ea typeface="Merriweather Light 18pt" pitchFamily="2" charset="0"/>
                <a:cs typeface="Merriweather Light 18pt" pitchFamily="2" charset="0"/>
              </a:rPr>
              <a:t>AI Tools in the Workplace (Nov 5, 4pm)</a:t>
            </a:r>
          </a:p>
          <a:p>
            <a:r>
              <a:rPr lang="en-US" sz="1800" kern="200" spc="100" dirty="0">
                <a:latin typeface="Merriweather Light 18pt" pitchFamily="2" charset="0"/>
                <a:ea typeface="Merriweather Light 18pt" pitchFamily="2" charset="0"/>
                <a:cs typeface="Merriweather Light 18pt" pitchFamily="2" charset="0"/>
              </a:rPr>
              <a:t>Graphing Basics for R Users (Nov 6, 11am)</a:t>
            </a:r>
            <a:endParaRPr lang="en-US" dirty="0"/>
          </a:p>
          <a:p>
            <a:pPr marL="182880" indent="0">
              <a:buNone/>
            </a:pPr>
            <a:r>
              <a:rPr lang="en-US" sz="1800" kern="200" spc="100" dirty="0">
                <a:latin typeface="Merriweather Light 18pt" pitchFamily="2" charset="0"/>
                <a:ea typeface="Merriweather Light 18pt" pitchFamily="2" charset="0"/>
                <a:cs typeface="Merriweather Light 18pt" pitchFamily="2" charset="0"/>
                <a:hlinkClick r:id="rId2"/>
              </a:rPr>
              <a:t>Register here</a:t>
            </a:r>
            <a:endParaRPr lang="en-US" sz="1800" kern="200" spc="100" dirty="0">
              <a:latin typeface="Merriweather Light 18pt" pitchFamily="2" charset="0"/>
              <a:ea typeface="Merriweather Light 18pt" pitchFamily="2" charset="0"/>
              <a:cs typeface="Merriweather Light 18pt" pitchFamily="2" charset="0"/>
            </a:endParaRPr>
          </a:p>
          <a:p>
            <a:endParaRPr lang="en-US" sz="1800" kern="200" spc="100" dirty="0">
              <a:latin typeface="Merriweather Light 18pt" pitchFamily="2" charset="0"/>
              <a:ea typeface="Merriweather Light 18pt" pitchFamily="2" charset="0"/>
              <a:cs typeface="Merriweather Light 18pt" pitchFamily="2" charset="0"/>
            </a:endParaRPr>
          </a:p>
          <a:p>
            <a:pPr marL="186262" indent="0">
              <a:buSzPts val="1400"/>
              <a:buNone/>
            </a:pPr>
            <a:r>
              <a:rPr lang="en-US" sz="1800" dirty="0">
                <a:latin typeface="Merriweather Light 18pt" pitchFamily="2" charset="0"/>
                <a:ea typeface="Merriweather Light 18pt" pitchFamily="2" charset="0"/>
                <a:cs typeface="Merriweather Light 18pt" pitchFamily="2" charset="0"/>
              </a:rPr>
              <a:t>Are there any workshops you would like to see offered? </a:t>
            </a:r>
            <a:r>
              <a:rPr lang="en-US" sz="1800" dirty="0">
                <a:latin typeface="Merriweather Light 18pt" pitchFamily="2" charset="0"/>
                <a:ea typeface="Merriweather Light 18pt" pitchFamily="2" charset="0"/>
                <a:cs typeface="Merriweather Light 18pt" pitchFamily="2" charset="0"/>
                <a:hlinkClick r:id="rId3"/>
              </a:rPr>
              <a:t>Let us know!</a:t>
            </a:r>
            <a:endParaRPr lang="en-US" sz="1800" dirty="0">
              <a:latin typeface="Merriweather Light 18pt" pitchFamily="2" charset="0"/>
              <a:ea typeface="Merriweather Light 18pt" pitchFamily="2" charset="0"/>
              <a:cs typeface="Merriweather Light 18pt" pitchFamily="2" charset="0"/>
            </a:endParaRPr>
          </a:p>
          <a:p>
            <a:endParaRPr lang="en-US" sz="1800" kern="200" spc="100" dirty="0">
              <a:latin typeface="Merriweather Light 18pt" pitchFamily="2" charset="0"/>
              <a:ea typeface="Merriweather Light 18pt" pitchFamily="2" charset="0"/>
              <a:cs typeface="Merriweather Light 18pt" pitchFamily="2" charset="0"/>
            </a:endParaRPr>
          </a:p>
        </p:txBody>
      </p:sp>
      <p:sp>
        <p:nvSpPr>
          <p:cNvPr id="4" name="Slide Number Placeholder 3">
            <a:extLst>
              <a:ext uri="{FF2B5EF4-FFF2-40B4-BE49-F238E27FC236}">
                <a16:creationId xmlns:a16="http://schemas.microsoft.com/office/drawing/2014/main" id="{8566B2F2-C9F4-39A1-FF78-C55B34B6DC64}"/>
              </a:ext>
            </a:extLst>
          </p:cNvPr>
          <p:cNvSpPr>
            <a:spLocks noGrp="1"/>
          </p:cNvSpPr>
          <p:nvPr>
            <p:ph type="sldNum" sz="quarter" idx="12"/>
          </p:nvPr>
        </p:nvSpPr>
        <p:spPr/>
        <p:txBody>
          <a:bodyPr/>
          <a:lstStyle/>
          <a:p>
            <a:fld id="{72D68BE1-19F6-402D-9E75-4E3BB4A747F9}" type="slidenum">
              <a:rPr lang="en-US" smtClean="0"/>
              <a:t>20</a:t>
            </a:fld>
            <a:endParaRPr lang="en-US"/>
          </a:p>
        </p:txBody>
      </p:sp>
    </p:spTree>
    <p:extLst>
      <p:ext uri="{BB962C8B-B14F-4D97-AF65-F5344CB8AC3E}">
        <p14:creationId xmlns:p14="http://schemas.microsoft.com/office/powerpoint/2010/main" val="1222526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1DA1B27E-4053-2A9B-16CD-A10CACD6E57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48DD41B-75B8-07E5-F70C-56472AAA24D1}"/>
              </a:ext>
            </a:extLst>
          </p:cNvPr>
          <p:cNvSpPr>
            <a:spLocks noGrp="1"/>
          </p:cNvSpPr>
          <p:nvPr>
            <p:ph type="title"/>
          </p:nvPr>
        </p:nvSpPr>
        <p:spPr>
          <a:xfrm>
            <a:off x="1097280" y="286604"/>
            <a:ext cx="10058400" cy="1318262"/>
          </a:xfrm>
        </p:spPr>
        <p:txBody>
          <a:bodyPr anchor="b">
            <a:normAutofit/>
          </a:bodyPr>
          <a:lstStyle/>
          <a:p>
            <a:r>
              <a:rPr lang="en-US" sz="4000" dirty="0"/>
              <a:t>Data Consultations</a:t>
            </a:r>
          </a:p>
        </p:txBody>
      </p:sp>
      <p:sp>
        <p:nvSpPr>
          <p:cNvPr id="10" name="Content Placeholder 2">
            <a:extLst>
              <a:ext uri="{FF2B5EF4-FFF2-40B4-BE49-F238E27FC236}">
                <a16:creationId xmlns:a16="http://schemas.microsoft.com/office/drawing/2014/main" id="{E25F3832-BE75-42B9-C3C8-6D27DB6668A1}"/>
              </a:ext>
            </a:extLst>
          </p:cNvPr>
          <p:cNvSpPr txBox="1">
            <a:spLocks/>
          </p:cNvSpPr>
          <p:nvPr/>
        </p:nvSpPr>
        <p:spPr>
          <a:xfrm>
            <a:off x="1097280" y="1937310"/>
            <a:ext cx="9907604" cy="3950143"/>
          </a:xfrm>
          <a:prstGeom prst="rect">
            <a:avLst/>
          </a:prstGeom>
        </p:spPr>
        <p:txBody>
          <a:bodyPr spcFirstLastPara="1" vert="horz" wrap="square" lIns="91425" tIns="91425" rIns="91425" bIns="91425" rtlCol="0" anchor="t" anchorCtr="0">
            <a:normAutofit fontScale="92500" lnSpcReduction="10000"/>
          </a:bodyPr>
          <a:lstStyle>
            <a:lvl1pPr marL="457200" lvl="0" indent="-274320" algn="l" defTabSz="914400" rtl="0" eaLnBrk="1" latinLnBrk="0" hangingPunct="1">
              <a:lnSpc>
                <a:spcPct val="100000"/>
              </a:lnSpc>
              <a:spcBef>
                <a:spcPts val="0"/>
              </a:spcBef>
              <a:spcAft>
                <a:spcPts val="0"/>
              </a:spcAft>
              <a:buClr>
                <a:schemeClr val="accent1"/>
              </a:buClr>
              <a:buSzPts val="1600"/>
              <a:buFont typeface="Nunito Light"/>
              <a:buChar char="●"/>
              <a:defRPr sz="2200" kern="1200">
                <a:solidFill>
                  <a:schemeClr val="tx1">
                    <a:lumMod val="75000"/>
                    <a:lumOff val="25000"/>
                  </a:schemeClr>
                </a:solidFill>
                <a:latin typeface="+mn-lt"/>
                <a:ea typeface="+mn-ea"/>
                <a:cs typeface="+mn-cs"/>
              </a:defRPr>
            </a:lvl1pPr>
            <a:lvl2pPr marL="822960" lvl="1" indent="-274320" algn="ctr" defTabSz="914400" rtl="0" eaLnBrk="1" latinLnBrk="0" hangingPunct="1">
              <a:lnSpc>
                <a:spcPct val="100000"/>
              </a:lnSpc>
              <a:spcBef>
                <a:spcPts val="0"/>
              </a:spcBef>
              <a:spcAft>
                <a:spcPts val="0"/>
              </a:spcAft>
              <a:buClr>
                <a:srgbClr val="E76A28"/>
              </a:buClr>
              <a:buSzPts val="1600"/>
              <a:buFont typeface="Nunito Light"/>
              <a:buChar char="○"/>
              <a:defRPr sz="1800" kern="1200">
                <a:solidFill>
                  <a:schemeClr val="tx1">
                    <a:lumMod val="75000"/>
                    <a:lumOff val="25000"/>
                  </a:schemeClr>
                </a:solidFill>
                <a:latin typeface="+mn-lt"/>
                <a:ea typeface="+mn-ea"/>
                <a:cs typeface="+mn-cs"/>
              </a:defRPr>
            </a:lvl2pPr>
            <a:lvl3pPr marL="1188720" lvl="2" indent="-182880" algn="ctr" defTabSz="914400" rtl="0" eaLnBrk="1" latinLnBrk="0" hangingPunct="1">
              <a:lnSpc>
                <a:spcPct val="100000"/>
              </a:lnSpc>
              <a:spcBef>
                <a:spcPts val="0"/>
              </a:spcBef>
              <a:spcAft>
                <a:spcPts val="0"/>
              </a:spcAft>
              <a:buClr>
                <a:srgbClr val="E76A28"/>
              </a:buClr>
              <a:buSzPts val="1500"/>
              <a:buFont typeface="Nunito Light"/>
              <a:buChar char="■"/>
              <a:defRPr sz="1600" kern="1200">
                <a:solidFill>
                  <a:schemeClr val="tx1">
                    <a:lumMod val="75000"/>
                    <a:lumOff val="25000"/>
                  </a:schemeClr>
                </a:solidFill>
                <a:latin typeface="+mn-lt"/>
                <a:ea typeface="+mn-ea"/>
                <a:cs typeface="+mn-cs"/>
              </a:defRPr>
            </a:lvl3pPr>
            <a:lvl4pPr marL="1554480" lvl="3" indent="-182880" algn="ctr" defTabSz="914400" rtl="0" eaLnBrk="1" latinLnBrk="0" hangingPunct="1">
              <a:lnSpc>
                <a:spcPct val="100000"/>
              </a:lnSpc>
              <a:spcBef>
                <a:spcPts val="0"/>
              </a:spcBef>
              <a:spcAft>
                <a:spcPts val="0"/>
              </a:spcAft>
              <a:buClr>
                <a:srgbClr val="E76A28"/>
              </a:buClr>
              <a:buSzPts val="1500"/>
              <a:buFont typeface="Nunito Light"/>
              <a:buChar char="●"/>
              <a:defRPr sz="1400" kern="1200">
                <a:solidFill>
                  <a:schemeClr val="tx1">
                    <a:lumMod val="75000"/>
                    <a:lumOff val="25000"/>
                  </a:schemeClr>
                </a:solidFill>
                <a:latin typeface="+mn-lt"/>
                <a:ea typeface="+mn-ea"/>
                <a:cs typeface="+mn-cs"/>
              </a:defRPr>
            </a:lvl4pPr>
            <a:lvl5pPr marL="1828800" lvl="4" indent="-182880" algn="ctr" defTabSz="914400" rtl="0" eaLnBrk="1" latinLnBrk="0" hangingPunct="1">
              <a:lnSpc>
                <a:spcPct val="100000"/>
              </a:lnSpc>
              <a:spcBef>
                <a:spcPts val="0"/>
              </a:spcBef>
              <a:spcAft>
                <a:spcPts val="0"/>
              </a:spcAft>
              <a:buClr>
                <a:srgbClr val="E76A28"/>
              </a:buClr>
              <a:buSzPts val="1400"/>
              <a:buFont typeface="Nunito Light"/>
              <a:buChar char="○"/>
              <a:defRPr sz="1400" kern="1200">
                <a:solidFill>
                  <a:schemeClr val="tx1">
                    <a:lumMod val="75000"/>
                    <a:lumOff val="25000"/>
                  </a:schemeClr>
                </a:solidFill>
                <a:latin typeface="+mn-lt"/>
                <a:ea typeface="+mn-ea"/>
                <a:cs typeface="+mn-cs"/>
              </a:defRPr>
            </a:lvl5pPr>
            <a:lvl6pPr marL="1100000" lvl="5" indent="-228600" algn="ctr" defTabSz="914400" rtl="0" eaLnBrk="1" latinLnBrk="0" hangingPunct="1">
              <a:lnSpc>
                <a:spcPct val="100000"/>
              </a:lnSpc>
              <a:spcBef>
                <a:spcPts val="0"/>
              </a:spcBef>
              <a:spcAft>
                <a:spcPts val="0"/>
              </a:spcAft>
              <a:buClr>
                <a:srgbClr val="999999"/>
              </a:buClr>
              <a:buSzPts val="1400"/>
              <a:buFont typeface="Nunito Light"/>
              <a:buChar char="■"/>
              <a:defRPr sz="1400" kern="1200">
                <a:solidFill>
                  <a:schemeClr val="tx1">
                    <a:lumMod val="75000"/>
                    <a:lumOff val="25000"/>
                  </a:schemeClr>
                </a:solidFill>
                <a:latin typeface="+mn-lt"/>
                <a:ea typeface="+mn-ea"/>
                <a:cs typeface="+mn-cs"/>
              </a:defRPr>
            </a:lvl6pPr>
            <a:lvl7pPr marL="1300000" lvl="6" indent="-228600" algn="ctr" defTabSz="914400" rtl="0" eaLnBrk="1" latinLnBrk="0" hangingPunct="1">
              <a:lnSpc>
                <a:spcPct val="100000"/>
              </a:lnSpc>
              <a:spcBef>
                <a:spcPts val="0"/>
              </a:spcBef>
              <a:spcAft>
                <a:spcPts val="0"/>
              </a:spcAft>
              <a:buClr>
                <a:srgbClr val="999999"/>
              </a:buClr>
              <a:buSzPts val="1300"/>
              <a:buFont typeface="Nunito Light"/>
              <a:buChar char="●"/>
              <a:defRPr sz="1400" kern="1200">
                <a:solidFill>
                  <a:schemeClr val="tx1">
                    <a:lumMod val="75000"/>
                    <a:lumOff val="25000"/>
                  </a:schemeClr>
                </a:solidFill>
                <a:latin typeface="+mn-lt"/>
                <a:ea typeface="+mn-ea"/>
                <a:cs typeface="+mn-cs"/>
              </a:defRPr>
            </a:lvl7pPr>
            <a:lvl8pPr marL="1500000" lvl="7" indent="-228600" algn="ctr" defTabSz="914400" rtl="0" eaLnBrk="1" latinLnBrk="0" hangingPunct="1">
              <a:lnSpc>
                <a:spcPct val="100000"/>
              </a:lnSpc>
              <a:spcBef>
                <a:spcPts val="0"/>
              </a:spcBef>
              <a:spcAft>
                <a:spcPts val="0"/>
              </a:spcAft>
              <a:buClr>
                <a:srgbClr val="999999"/>
              </a:buClr>
              <a:buSzPts val="1300"/>
              <a:buFont typeface="Nunito Light"/>
              <a:buChar char="○"/>
              <a:defRPr sz="1400" kern="1200">
                <a:solidFill>
                  <a:schemeClr val="tx1">
                    <a:lumMod val="75000"/>
                    <a:lumOff val="25000"/>
                  </a:schemeClr>
                </a:solidFill>
                <a:latin typeface="+mn-lt"/>
                <a:ea typeface="+mn-ea"/>
                <a:cs typeface="+mn-cs"/>
              </a:defRPr>
            </a:lvl8pPr>
            <a:lvl9pPr marL="1700000" lvl="8" indent="-228600" algn="ctr" defTabSz="914400" rtl="0" eaLnBrk="1" latinLnBrk="0" hangingPunct="1">
              <a:lnSpc>
                <a:spcPct val="100000"/>
              </a:lnSpc>
              <a:spcBef>
                <a:spcPts val="0"/>
              </a:spcBef>
              <a:spcAft>
                <a:spcPts val="0"/>
              </a:spcAft>
              <a:buClr>
                <a:srgbClr val="999999"/>
              </a:buClr>
              <a:buSzPts val="1400"/>
              <a:buFont typeface="Nunito Light"/>
              <a:buChar char="■"/>
              <a:defRPr sz="1400" kern="1200">
                <a:solidFill>
                  <a:schemeClr val="tx1">
                    <a:lumMod val="75000"/>
                    <a:lumOff val="25000"/>
                  </a:schemeClr>
                </a:solidFill>
                <a:latin typeface="+mn-lt"/>
                <a:ea typeface="+mn-ea"/>
                <a:cs typeface="+mn-cs"/>
              </a:defRPr>
            </a:lvl9pPr>
          </a:lstStyle>
          <a:p>
            <a:pPr>
              <a:spcBef>
                <a:spcPts val="1200"/>
              </a:spcBef>
              <a:spcAft>
                <a:spcPts val="200"/>
              </a:spcAft>
            </a:pPr>
            <a:r>
              <a:rPr lang="en-US" sz="1800" kern="200" spc="100" dirty="0">
                <a:latin typeface="Merriweather Light 18pt" pitchFamily="2" charset="0"/>
                <a:ea typeface="Merriweather Light 18pt" pitchFamily="2" charset="0"/>
                <a:cs typeface="Merriweather Light 18pt" pitchFamily="2" charset="0"/>
                <a:hlinkClick r:id="rId3"/>
              </a:rPr>
              <a:t>https://calendar.libs.uga.edu/appointments/osds</a:t>
            </a:r>
            <a:r>
              <a:rPr lang="en-US" sz="1800" kern="200" spc="100" dirty="0">
                <a:latin typeface="Merriweather Light 18pt" pitchFamily="2" charset="0"/>
                <a:ea typeface="Merriweather Light 18pt" pitchFamily="2" charset="0"/>
                <a:cs typeface="Merriweather Light 18pt" pitchFamily="2" charset="0"/>
              </a:rPr>
              <a:t> </a:t>
            </a:r>
          </a:p>
          <a:p>
            <a:pPr>
              <a:lnSpc>
                <a:spcPct val="110000"/>
              </a:lnSpc>
              <a:spcBef>
                <a:spcPts val="1200"/>
              </a:spcBef>
              <a:spcAft>
                <a:spcPts val="200"/>
              </a:spcAft>
            </a:pPr>
            <a:r>
              <a:rPr lang="en-US" sz="1800" kern="200" spc="100" dirty="0">
                <a:latin typeface="Merriweather Light 18pt" pitchFamily="2" charset="0"/>
                <a:ea typeface="Merriweather Light 18pt" pitchFamily="2" charset="0"/>
                <a:cs typeface="Merriweather Light 18pt" pitchFamily="2" charset="0"/>
              </a:rPr>
              <a:t>Make an appointment to sit down with someone from OSDS and talk about your research</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In person or virtual</a:t>
            </a:r>
          </a:p>
          <a:p>
            <a:pPr>
              <a:lnSpc>
                <a:spcPct val="110000"/>
              </a:lnSpc>
              <a:spcBef>
                <a:spcPts val="200"/>
              </a:spcBef>
              <a:spcAft>
                <a:spcPts val="200"/>
              </a:spcAft>
            </a:pPr>
            <a:r>
              <a:rPr lang="en-US" sz="1800" kern="200" spc="100" dirty="0">
                <a:latin typeface="Merriweather Light 18pt" pitchFamily="2" charset="0"/>
                <a:ea typeface="Merriweather Light 18pt" pitchFamily="2" charset="0"/>
                <a:cs typeface="Merriweather Light 18pt" pitchFamily="2" charset="0"/>
              </a:rPr>
              <a:t>Support for:</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R, Python, Excel, GIS</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Statistical analysis, text analysis, qualitative data analysis</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Data visualization</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Data management planning</a:t>
            </a:r>
          </a:p>
          <a:p>
            <a:pPr>
              <a:lnSpc>
                <a:spcPct val="110000"/>
              </a:lnSpc>
              <a:spcBef>
                <a:spcPts val="200"/>
              </a:spcBef>
              <a:spcAft>
                <a:spcPts val="200"/>
              </a:spcAft>
            </a:pPr>
            <a:r>
              <a:rPr lang="en-US" sz="1800" kern="200" spc="100" dirty="0">
                <a:latin typeface="Merriweather Light 18pt" pitchFamily="2" charset="0"/>
                <a:ea typeface="Merriweather Light 18pt" pitchFamily="2" charset="0"/>
                <a:cs typeface="Merriweather Light 18pt" pitchFamily="2" charset="0"/>
              </a:rPr>
              <a:t>Or attend walk-in hours in the AI &amp; Data Studio</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Tuesdays 10-11 am</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Thursdays 2-3 pm</a:t>
            </a:r>
          </a:p>
        </p:txBody>
      </p:sp>
    </p:spTree>
    <p:extLst>
      <p:ext uri="{BB962C8B-B14F-4D97-AF65-F5344CB8AC3E}">
        <p14:creationId xmlns:p14="http://schemas.microsoft.com/office/powerpoint/2010/main" val="3992246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73273BE1-40D0-E5F8-ADD1-24DEC6C285C0}"/>
            </a:ext>
          </a:extLst>
        </p:cNvPr>
        <p:cNvGrpSpPr/>
        <p:nvPr/>
      </p:nvGrpSpPr>
      <p:grpSpPr>
        <a:xfrm>
          <a:off x="0" y="0"/>
          <a:ext cx="0" cy="0"/>
          <a:chOff x="0" y="0"/>
          <a:chExt cx="0" cy="0"/>
        </a:xfrm>
      </p:grpSpPr>
      <p:sp>
        <p:nvSpPr>
          <p:cNvPr id="463" name="Google Shape;463;p42">
            <a:extLst>
              <a:ext uri="{FF2B5EF4-FFF2-40B4-BE49-F238E27FC236}">
                <a16:creationId xmlns:a16="http://schemas.microsoft.com/office/drawing/2014/main" id="{78F72A7B-A276-C6C5-10D0-F712388F5662}"/>
              </a:ext>
            </a:extLst>
          </p:cNvPr>
          <p:cNvSpPr txBox="1">
            <a:spLocks noGrp="1"/>
          </p:cNvSpPr>
          <p:nvPr>
            <p:ph type="subTitle" idx="1"/>
          </p:nvPr>
        </p:nvSpPr>
        <p:spPr>
          <a:xfrm>
            <a:off x="960000" y="2006400"/>
            <a:ext cx="9938909" cy="2845200"/>
          </a:xfrm>
          <a:prstGeom prst="rect">
            <a:avLst/>
          </a:prstGeom>
        </p:spPr>
        <p:txBody>
          <a:bodyPr spcFirstLastPara="1" vert="horz" wrap="square" lIns="121900" tIns="121900" rIns="121900" bIns="121900" rtlCol="0" anchor="t" anchorCtr="0">
            <a:noAutofit/>
          </a:bodyPr>
          <a:lstStyle/>
          <a:p>
            <a:pPr marL="186262" indent="0">
              <a:lnSpc>
                <a:spcPct val="114000"/>
              </a:lnSpc>
              <a:spcBef>
                <a:spcPts val="200"/>
              </a:spcBef>
              <a:spcAft>
                <a:spcPts val="400"/>
              </a:spcAft>
              <a:buSzPts val="1400"/>
              <a:buNone/>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3">
                  <a:extLst>
                    <a:ext uri="{A12FA001-AC4F-418D-AE19-62706E023703}">
                      <ahyp:hlinkClr xmlns:ahyp="http://schemas.microsoft.com/office/drawing/2018/hyperlinkcolor" val="tx"/>
                    </a:ext>
                  </a:extLst>
                </a:hlinkClick>
              </a:rPr>
              <a:t>https://guides.libs.uga.edu/data-services/</a:t>
            </a:r>
            <a:r>
              <a:rPr lang="en-US" sz="2000" dirty="0">
                <a:solidFill>
                  <a:schemeClr val="bg2">
                    <a:lumMod val="25000"/>
                  </a:schemeClr>
                </a:solidFill>
                <a:latin typeface="Merriweather Light 18pt" pitchFamily="2" charset="0"/>
                <a:ea typeface="Merriweather Light 18pt" pitchFamily="2" charset="0"/>
                <a:cs typeface="Merriweather Light 18pt" pitchFamily="2" charset="0"/>
              </a:rPr>
              <a:t> </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 action="ppaction://noaction">
                <a:extLst>
                  <a:ext uri="{A12FA001-AC4F-418D-AE19-62706E023703}">
                    <ahyp:hlinkClr xmlns:ahyp="http://schemas.microsoft.com/office/drawing/2018/hyperlinkcolor" val="tx"/>
                  </a:ext>
                </a:extLst>
              </a:hlinkClick>
            </a:endParaRPr>
          </a:p>
          <a:p>
            <a:pPr>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 action="ppaction://noaction">
                  <a:extLst>
                    <a:ext uri="{A12FA001-AC4F-418D-AE19-62706E023703}">
                      <ahyp:hlinkClr xmlns:ahyp="http://schemas.microsoft.com/office/drawing/2018/hyperlinkcolor" val="tx"/>
                    </a:ext>
                  </a:extLst>
                </a:hlinkClick>
              </a:rPr>
              <a:t>Ask us a question</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endParaRPr>
          </a:p>
          <a:p>
            <a:pPr lvl="0">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4">
                  <a:extLst>
                    <a:ext uri="{A12FA001-AC4F-418D-AE19-62706E023703}">
                      <ahyp:hlinkClr xmlns:ahyp="http://schemas.microsoft.com/office/drawing/2018/hyperlinkcolor" val="tx"/>
                    </a:ext>
                  </a:extLst>
                </a:hlinkClick>
              </a:rPr>
              <a:t>Schedule a consultation</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endParaRPr>
          </a:p>
          <a:p>
            <a:pPr lvl="0">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5">
                  <a:extLst>
                    <a:ext uri="{A12FA001-AC4F-418D-AE19-62706E023703}">
                      <ahyp:hlinkClr xmlns:ahyp="http://schemas.microsoft.com/office/drawing/2018/hyperlinkcolor" val="tx"/>
                    </a:ext>
                  </a:extLst>
                </a:hlinkClick>
              </a:rPr>
              <a:t>Register for a workshop</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endParaRPr>
          </a:p>
          <a:p>
            <a:pPr lvl="0">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6">
                  <a:extLst>
                    <a:ext uri="{A12FA001-AC4F-418D-AE19-62706E023703}">
                      <ahyp:hlinkClr xmlns:ahyp="http://schemas.microsoft.com/office/drawing/2018/hyperlinkcolor" val="tx"/>
                    </a:ext>
                  </a:extLst>
                </a:hlinkClick>
              </a:rPr>
              <a:t>Find resources for learning about tools</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endParaRPr>
          </a:p>
          <a:p>
            <a:pPr lvl="0">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7">
                  <a:extLst>
                    <a:ext uri="{A12FA001-AC4F-418D-AE19-62706E023703}">
                      <ahyp:hlinkClr xmlns:ahyp="http://schemas.microsoft.com/office/drawing/2018/hyperlinkcolor" val="tx"/>
                    </a:ext>
                  </a:extLst>
                </a:hlinkClick>
              </a:rPr>
              <a:t>Visit the AI &amp; Data Studio</a:t>
            </a:r>
            <a:endParaRPr sz="2000" dirty="0">
              <a:solidFill>
                <a:schemeClr val="bg2">
                  <a:lumMod val="25000"/>
                </a:schemeClr>
              </a:solidFill>
              <a:latin typeface="Merriweather Light 18pt" pitchFamily="2" charset="0"/>
              <a:ea typeface="Merriweather Light 18pt" pitchFamily="2" charset="0"/>
              <a:cs typeface="Merriweather Light 18pt" pitchFamily="2" charset="0"/>
            </a:endParaRPr>
          </a:p>
        </p:txBody>
      </p:sp>
      <p:sp>
        <p:nvSpPr>
          <p:cNvPr id="23" name="Title 1">
            <a:extLst>
              <a:ext uri="{FF2B5EF4-FFF2-40B4-BE49-F238E27FC236}">
                <a16:creationId xmlns:a16="http://schemas.microsoft.com/office/drawing/2014/main" id="{109083BB-9F0C-6545-2581-C31397A2CBB3}"/>
              </a:ext>
            </a:extLst>
          </p:cNvPr>
          <p:cNvSpPr txBox="1">
            <a:spLocks/>
          </p:cNvSpPr>
          <p:nvPr/>
        </p:nvSpPr>
        <p:spPr>
          <a:xfrm>
            <a:off x="1097280" y="286604"/>
            <a:ext cx="10058400" cy="1318262"/>
          </a:xfrm>
          <a:prstGeom prst="rect">
            <a:avLst/>
          </a:prstGeom>
        </p:spPr>
        <p:txBody>
          <a:bodyPr spcFirstLastPara="1" vert="horz" wrap="square" lIns="91425" tIns="91425" rIns="91425" bIns="91425" rtlCol="0" anchor="b" anchorCtr="0">
            <a:normAutofit/>
          </a:bodyPr>
          <a:lstStyle>
            <a:lvl1pPr lvl="0" algn="l" defTabSz="914400" rtl="0" eaLnBrk="1" latinLnBrk="0" hangingPunct="1">
              <a:lnSpc>
                <a:spcPct val="85000"/>
              </a:lnSpc>
              <a:spcBef>
                <a:spcPts val="0"/>
              </a:spcBef>
              <a:spcAft>
                <a:spcPts val="0"/>
              </a:spcAft>
              <a:buSzPts val="3500"/>
              <a:buNone/>
              <a:defRPr sz="4800" kern="1200" spc="-50" baseline="0">
                <a:solidFill>
                  <a:schemeClr val="tx1">
                    <a:lumMod val="75000"/>
                    <a:lumOff val="25000"/>
                  </a:schemeClr>
                </a:solidFill>
                <a:latin typeface="+mj-lt"/>
                <a:ea typeface="+mj-ea"/>
                <a:cs typeface="+mj-cs"/>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sz="4000" dirty="0"/>
              <a:t>Contact Us</a:t>
            </a:r>
          </a:p>
        </p:txBody>
      </p:sp>
    </p:spTree>
    <p:extLst>
      <p:ext uri="{BB962C8B-B14F-4D97-AF65-F5344CB8AC3E}">
        <p14:creationId xmlns:p14="http://schemas.microsoft.com/office/powerpoint/2010/main" val="8103318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ustom 2">
      <a:majorFont>
        <a:latin typeface="Georgia"/>
        <a:ea typeface=""/>
        <a:cs typeface=""/>
      </a:majorFont>
      <a:minorFont>
        <a:latin typeface="Avenir Next LT Pro Light"/>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3769</TotalTime>
  <Words>1503</Words>
  <Application>Microsoft Office PowerPoint</Application>
  <PresentationFormat>Widescreen</PresentationFormat>
  <Paragraphs>173</Paragraphs>
  <Slides>22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Avenir Next LT Pro Light</vt:lpstr>
      <vt:lpstr>Calibri</vt:lpstr>
      <vt:lpstr>Georgia</vt:lpstr>
      <vt:lpstr>Merriweather Light 18pt</vt:lpstr>
      <vt:lpstr>Nunito Light</vt:lpstr>
      <vt:lpstr>Retrospect</vt:lpstr>
      <vt:lpstr>Working with Data  in Excel</vt:lpstr>
      <vt:lpstr>Topics Covered</vt:lpstr>
      <vt:lpstr>Data</vt:lpstr>
      <vt:lpstr>Functions</vt:lpstr>
      <vt:lpstr>Basic mathematical functions</vt:lpstr>
      <vt:lpstr>Logical tests</vt:lpstr>
      <vt:lpstr>Boolean operators</vt:lpstr>
      <vt:lpstr>Formulas that count cells</vt:lpstr>
      <vt:lpstr>Manipulating text</vt:lpstr>
      <vt:lpstr>If-then statements</vt:lpstr>
      <vt:lpstr>PivotTables</vt:lpstr>
      <vt:lpstr>What is a pivot table?</vt:lpstr>
      <vt:lpstr>How to insert a pivot table</vt:lpstr>
      <vt:lpstr>Types of values</vt:lpstr>
      <vt:lpstr>Sorting and grouping</vt:lpstr>
      <vt:lpstr>Multidimensional tables</vt:lpstr>
      <vt:lpstr>Filters</vt:lpstr>
      <vt:lpstr>Changing data</vt:lpstr>
      <vt:lpstr>PivotCharts</vt:lpstr>
      <vt:lpstr>Upcoming Workshops</vt:lpstr>
      <vt:lpstr>Data Consultations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Presentation:  (Possible Subtitle)</dc:title>
  <dc:creator>Keiko Bridwell</dc:creator>
  <cp:lastModifiedBy>Keiko Bridwell</cp:lastModifiedBy>
  <cp:revision>1</cp:revision>
  <dcterms:created xsi:type="dcterms:W3CDTF">2021-09-02T19:34:31Z</dcterms:created>
  <dcterms:modified xsi:type="dcterms:W3CDTF">2026-10-08T18:58:12Z</dcterms:modified>
</cp:coreProperties>
</file>