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9"/>
  </p:notesMasterIdLst>
  <p:handoutMasterIdLst>
    <p:handoutMasterId r:id="rId10"/>
  </p:handoutMasterIdLst>
  <p:sldIdLst>
    <p:sldId id="264" r:id="rId2"/>
    <p:sldId id="298" r:id="rId3"/>
    <p:sldId id="299" r:id="rId4"/>
    <p:sldId id="300" r:id="rId5"/>
    <p:sldId id="301" r:id="rId6"/>
    <p:sldId id="353" r:id="rId7"/>
    <p:sldId id="356"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002B"/>
    <a:srgbClr val="BA0C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5182" autoAdjust="0"/>
  </p:normalViewPr>
  <p:slideViewPr>
    <p:cSldViewPr snapToGrid="0">
      <p:cViewPr varScale="1">
        <p:scale>
          <a:sx n="83" d="100"/>
          <a:sy n="83" d="100"/>
        </p:scale>
        <p:origin x="1674" y="84"/>
      </p:cViewPr>
      <p:guideLst/>
    </p:cSldViewPr>
  </p:slideViewPr>
  <p:notesTextViewPr>
    <p:cViewPr>
      <p:scale>
        <a:sx n="1" d="1"/>
        <a:sy n="1" d="1"/>
      </p:scale>
      <p:origin x="0" y="-438"/>
    </p:cViewPr>
  </p:notesTextViewPr>
  <p:notesViewPr>
    <p:cSldViewPr snapToGrid="0">
      <p:cViewPr varScale="1">
        <p:scale>
          <a:sx n="52" d="100"/>
          <a:sy n="52" d="100"/>
        </p:scale>
        <p:origin x="294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iko Bridwell" userId="0d8c6daf-78c4-42ff-97a7-dd086c6e026c" providerId="ADAL" clId="{5415DAD3-9AF0-46DC-A4E6-8437E905FDE1}"/>
    <pc:docChg chg="undo custSel addSld delSld modSld">
      <pc:chgData name="Keiko Bridwell" userId="0d8c6daf-78c4-42ff-97a7-dd086c6e026c" providerId="ADAL" clId="{5415DAD3-9AF0-46DC-A4E6-8437E905FDE1}" dt="2026-10-01T15:28:28.688" v="2955" actId="20577"/>
      <pc:docMkLst>
        <pc:docMk/>
      </pc:docMkLst>
      <pc:sldChg chg="modSp mod">
        <pc:chgData name="Keiko Bridwell" userId="0d8c6daf-78c4-42ff-97a7-dd086c6e026c" providerId="ADAL" clId="{5415DAD3-9AF0-46DC-A4E6-8437E905FDE1}" dt="2026-09-28T13:51:16.681" v="490" actId="403"/>
        <pc:sldMkLst>
          <pc:docMk/>
          <pc:sldMk cId="1195851839" sldId="264"/>
        </pc:sldMkLst>
        <pc:spChg chg="mod">
          <ac:chgData name="Keiko Bridwell" userId="0d8c6daf-78c4-42ff-97a7-dd086c6e026c" providerId="ADAL" clId="{5415DAD3-9AF0-46DC-A4E6-8437E905FDE1}" dt="2026-09-28T13:51:16.681" v="490" actId="403"/>
          <ac:spMkLst>
            <pc:docMk/>
            <pc:sldMk cId="1195851839" sldId="264"/>
            <ac:spMk id="2" creationId="{1DE54F89-A816-4B12-9807-13C2B7BBE632}"/>
          </ac:spMkLst>
        </pc:spChg>
        <pc:spChg chg="mod">
          <ac:chgData name="Keiko Bridwell" userId="0d8c6daf-78c4-42ff-97a7-dd086c6e026c" providerId="ADAL" clId="{5415DAD3-9AF0-46DC-A4E6-8437E905FDE1}" dt="2026-09-28T13:44:56.112" v="239" actId="947"/>
          <ac:spMkLst>
            <pc:docMk/>
            <pc:sldMk cId="1195851839" sldId="264"/>
            <ac:spMk id="3" creationId="{12B3B62A-19BF-4C40-9292-719216720A21}"/>
          </ac:spMkLst>
        </pc:spChg>
        <pc:picChg chg="mod">
          <ac:chgData name="Keiko Bridwell" userId="0d8c6daf-78c4-42ff-97a7-dd086c6e026c" providerId="ADAL" clId="{5415DAD3-9AF0-46DC-A4E6-8437E905FDE1}" dt="2026-09-28T13:42:39.832" v="185" actId="14100"/>
          <ac:picMkLst>
            <pc:docMk/>
            <pc:sldMk cId="1195851839" sldId="264"/>
            <ac:picMk id="6" creationId="{EBBC6456-78A9-E43C-3CB5-4A6709F9F05F}"/>
          </ac:picMkLst>
        </pc:picChg>
      </pc:sldChg>
      <pc:sldChg chg="delSp modSp mod">
        <pc:chgData name="Keiko Bridwell" userId="0d8c6daf-78c4-42ff-97a7-dd086c6e026c" providerId="ADAL" clId="{5415DAD3-9AF0-46DC-A4E6-8437E905FDE1}" dt="2026-09-28T13:50:33.886" v="488" actId="20577"/>
        <pc:sldMkLst>
          <pc:docMk/>
          <pc:sldMk cId="2435733633" sldId="298"/>
        </pc:sldMkLst>
        <pc:spChg chg="mod">
          <ac:chgData name="Keiko Bridwell" userId="0d8c6daf-78c4-42ff-97a7-dd086c6e026c" providerId="ADAL" clId="{5415DAD3-9AF0-46DC-A4E6-8437E905FDE1}" dt="2026-09-28T13:49:00.496" v="455" actId="20577"/>
          <ac:spMkLst>
            <pc:docMk/>
            <pc:sldMk cId="2435733633" sldId="298"/>
            <ac:spMk id="2" creationId="{BCD9C84A-E7BF-90E6-A2B6-96C28D3F2BBA}"/>
          </ac:spMkLst>
        </pc:spChg>
        <pc:spChg chg="mod">
          <ac:chgData name="Keiko Bridwell" userId="0d8c6daf-78c4-42ff-97a7-dd086c6e026c" providerId="ADAL" clId="{5415DAD3-9AF0-46DC-A4E6-8437E905FDE1}" dt="2026-09-28T13:50:33.886" v="488" actId="20577"/>
          <ac:spMkLst>
            <pc:docMk/>
            <pc:sldMk cId="2435733633" sldId="298"/>
            <ac:spMk id="3" creationId="{D28FC5FB-793F-7198-FEDC-C08A15B19A69}"/>
          </ac:spMkLst>
        </pc:spChg>
      </pc:sldChg>
      <pc:sldChg chg="modSp add mod modNotesTx">
        <pc:chgData name="Keiko Bridwell" userId="0d8c6daf-78c4-42ff-97a7-dd086c6e026c" providerId="ADAL" clId="{5415DAD3-9AF0-46DC-A4E6-8437E905FDE1}" dt="2026-10-01T15:28:28.688" v="2955" actId="20577"/>
        <pc:sldMkLst>
          <pc:docMk/>
          <pc:sldMk cId="3407393377" sldId="299"/>
        </pc:sldMkLst>
        <pc:spChg chg="mod">
          <ac:chgData name="Keiko Bridwell" userId="0d8c6daf-78c4-42ff-97a7-dd086c6e026c" providerId="ADAL" clId="{5415DAD3-9AF0-46DC-A4E6-8437E905FDE1}" dt="2026-09-28T14:05:53.459" v="666" actId="20577"/>
          <ac:spMkLst>
            <pc:docMk/>
            <pc:sldMk cId="3407393377" sldId="299"/>
            <ac:spMk id="2" creationId="{E29BC968-CD8F-F7F9-E909-0F3D6F918560}"/>
          </ac:spMkLst>
        </pc:spChg>
        <pc:spChg chg="mod">
          <ac:chgData name="Keiko Bridwell" userId="0d8c6daf-78c4-42ff-97a7-dd086c6e026c" providerId="ADAL" clId="{5415DAD3-9AF0-46DC-A4E6-8437E905FDE1}" dt="2026-09-28T13:59:26.646" v="651" actId="20577"/>
          <ac:spMkLst>
            <pc:docMk/>
            <pc:sldMk cId="3407393377" sldId="299"/>
            <ac:spMk id="3" creationId="{0178D288-CCBB-76A7-4170-E94B58F3C6E8}"/>
          </ac:spMkLst>
        </pc:spChg>
      </pc:sldChg>
      <pc:sldChg chg="modSp new mod">
        <pc:chgData name="Keiko Bridwell" userId="0d8c6daf-78c4-42ff-97a7-dd086c6e026c" providerId="ADAL" clId="{5415DAD3-9AF0-46DC-A4E6-8437E905FDE1}" dt="2026-09-28T20:04:48.718" v="1442" actId="5793"/>
        <pc:sldMkLst>
          <pc:docMk/>
          <pc:sldMk cId="1222526201" sldId="300"/>
        </pc:sldMkLst>
        <pc:spChg chg="mod">
          <ac:chgData name="Keiko Bridwell" userId="0d8c6daf-78c4-42ff-97a7-dd086c6e026c" providerId="ADAL" clId="{5415DAD3-9AF0-46DC-A4E6-8437E905FDE1}" dt="2026-09-28T19:44:44.892" v="977" actId="20577"/>
          <ac:spMkLst>
            <pc:docMk/>
            <pc:sldMk cId="1222526201" sldId="300"/>
            <ac:spMk id="2" creationId="{AC1E371E-6903-A94C-9DB5-2D16FB02A843}"/>
          </ac:spMkLst>
        </pc:spChg>
        <pc:spChg chg="mod">
          <ac:chgData name="Keiko Bridwell" userId="0d8c6daf-78c4-42ff-97a7-dd086c6e026c" providerId="ADAL" clId="{5415DAD3-9AF0-46DC-A4E6-8437E905FDE1}" dt="2026-09-28T20:04:48.718" v="1442" actId="5793"/>
          <ac:spMkLst>
            <pc:docMk/>
            <pc:sldMk cId="1222526201" sldId="300"/>
            <ac:spMk id="3" creationId="{C55B9661-66AE-FAF5-DAFA-20944E5026DC}"/>
          </ac:spMkLst>
        </pc:spChg>
      </pc:sldChg>
      <pc:sldChg chg="modSp add mod">
        <pc:chgData name="Keiko Bridwell" userId="0d8c6daf-78c4-42ff-97a7-dd086c6e026c" providerId="ADAL" clId="{5415DAD3-9AF0-46DC-A4E6-8437E905FDE1}" dt="2026-09-28T20:04:56.023" v="1443" actId="5793"/>
        <pc:sldMkLst>
          <pc:docMk/>
          <pc:sldMk cId="1342770331" sldId="301"/>
        </pc:sldMkLst>
        <pc:spChg chg="mod">
          <ac:chgData name="Keiko Bridwell" userId="0d8c6daf-78c4-42ff-97a7-dd086c6e026c" providerId="ADAL" clId="{5415DAD3-9AF0-46DC-A4E6-8437E905FDE1}" dt="2026-09-28T19:41:06.228" v="721" actId="20577"/>
          <ac:spMkLst>
            <pc:docMk/>
            <pc:sldMk cId="1342770331" sldId="301"/>
            <ac:spMk id="2" creationId="{37BD9D9B-5BAF-4D2E-2F23-BFD8C809AC2A}"/>
          </ac:spMkLst>
        </pc:spChg>
        <pc:spChg chg="mod">
          <ac:chgData name="Keiko Bridwell" userId="0d8c6daf-78c4-42ff-97a7-dd086c6e026c" providerId="ADAL" clId="{5415DAD3-9AF0-46DC-A4E6-8437E905FDE1}" dt="2026-09-28T20:04:56.023" v="1443" actId="5793"/>
          <ac:spMkLst>
            <pc:docMk/>
            <pc:sldMk cId="1342770331" sldId="301"/>
            <ac:spMk id="3" creationId="{AE535EB2-BF92-CE4B-C820-0D4172EEF4CF}"/>
          </ac:spMkLst>
        </pc:spChg>
      </pc:sldChg>
      <pc:sldChg chg="addSp delSp modSp add mod modNotesTx">
        <pc:chgData name="Keiko Bridwell" userId="0d8c6daf-78c4-42ff-97a7-dd086c6e026c" providerId="ADAL" clId="{5415DAD3-9AF0-46DC-A4E6-8437E905FDE1}" dt="2026-09-28T20:06:57.849" v="1492" actId="20577"/>
        <pc:sldMkLst>
          <pc:docMk/>
          <pc:sldMk cId="3992246967" sldId="353"/>
        </pc:sldMkLst>
        <pc:spChg chg="add mod">
          <ac:chgData name="Keiko Bridwell" userId="0d8c6daf-78c4-42ff-97a7-dd086c6e026c" providerId="ADAL" clId="{5415DAD3-9AF0-46DC-A4E6-8437E905FDE1}" dt="2026-09-28T19:56:29.375" v="1025" actId="20577"/>
          <ac:spMkLst>
            <pc:docMk/>
            <pc:sldMk cId="3992246967" sldId="353"/>
            <ac:spMk id="5" creationId="{D48DD41B-75B8-07E5-F70C-56472AAA24D1}"/>
          </ac:spMkLst>
        </pc:spChg>
        <pc:spChg chg="add mod">
          <ac:chgData name="Keiko Bridwell" userId="0d8c6daf-78c4-42ff-97a7-dd086c6e026c" providerId="ADAL" clId="{5415DAD3-9AF0-46DC-A4E6-8437E905FDE1}" dt="2026-09-28T20:03:12.381" v="1428" actId="14100"/>
          <ac:spMkLst>
            <pc:docMk/>
            <pc:sldMk cId="3992246967" sldId="353"/>
            <ac:spMk id="10" creationId="{E25F3832-BE75-42B9-C3C8-6D27DB6668A1}"/>
          </ac:spMkLst>
        </pc:spChg>
      </pc:sldChg>
      <pc:sldChg chg="addSp delSp modSp add mod modNotesTx">
        <pc:chgData name="Keiko Bridwell" userId="0d8c6daf-78c4-42ff-97a7-dd086c6e026c" providerId="ADAL" clId="{5415DAD3-9AF0-46DC-A4E6-8437E905FDE1}" dt="2026-09-28T20:06:48.962" v="1491" actId="20577"/>
        <pc:sldMkLst>
          <pc:docMk/>
          <pc:sldMk cId="81033184" sldId="356"/>
        </pc:sldMkLst>
        <pc:spChg chg="add mod">
          <ac:chgData name="Keiko Bridwell" userId="0d8c6daf-78c4-42ff-97a7-dd086c6e026c" providerId="ADAL" clId="{5415DAD3-9AF0-46DC-A4E6-8437E905FDE1}" dt="2026-09-28T20:06:36.925" v="1490" actId="20577"/>
          <ac:spMkLst>
            <pc:docMk/>
            <pc:sldMk cId="81033184" sldId="356"/>
            <ac:spMk id="23" creationId="{109083BB-9F0C-6545-2581-C31397A2CBB3}"/>
          </ac:spMkLst>
        </pc:spChg>
        <pc:spChg chg="mod">
          <ac:chgData name="Keiko Bridwell" userId="0d8c6daf-78c4-42ff-97a7-dd086c6e026c" providerId="ADAL" clId="{5415DAD3-9AF0-46DC-A4E6-8437E905FDE1}" dt="2026-09-28T20:06:05.921" v="1454" actId="948"/>
          <ac:spMkLst>
            <pc:docMk/>
            <pc:sldMk cId="81033184" sldId="356"/>
            <ac:spMk id="463" creationId="{78F72A7B-A276-C6C5-10D0-F712388F566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31DDC7-1FBD-3A74-9F56-3E305A9992C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4EBBA50-4B7E-44E3-83C1-52DEC7103E9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C9B534-04A1-45CA-9C5C-ABF1179B4F88}" type="datetimeFigureOut">
              <a:rPr lang="en-US" smtClean="0"/>
              <a:t>10/1/2026</a:t>
            </a:fld>
            <a:endParaRPr lang="en-US"/>
          </a:p>
        </p:txBody>
      </p:sp>
      <p:sp>
        <p:nvSpPr>
          <p:cNvPr id="4" name="Footer Placeholder 3">
            <a:extLst>
              <a:ext uri="{FF2B5EF4-FFF2-40B4-BE49-F238E27FC236}">
                <a16:creationId xmlns:a16="http://schemas.microsoft.com/office/drawing/2014/main" id="{666C0707-5D14-3A12-3F2B-B7B4679EEB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75C2ECD-30C9-093F-68D9-B87CBC06DD8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B752EE-F489-4819-9E76-73BA0381CFBD}" type="slidenum">
              <a:rPr lang="en-US" smtClean="0"/>
              <a:t>‹#›</a:t>
            </a:fld>
            <a:endParaRPr lang="en-US"/>
          </a:p>
        </p:txBody>
      </p:sp>
    </p:spTree>
    <p:extLst>
      <p:ext uri="{BB962C8B-B14F-4D97-AF65-F5344CB8AC3E}">
        <p14:creationId xmlns:p14="http://schemas.microsoft.com/office/powerpoint/2010/main" val="3332264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96130A-F014-4FEA-8E56-DF20D01199DE}"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B2231-1294-4327-84DE-9641F546980F}" type="slidenum">
              <a:rPr lang="en-US" smtClean="0"/>
              <a:t>‹#›</a:t>
            </a:fld>
            <a:endParaRPr lang="en-US"/>
          </a:p>
        </p:txBody>
      </p:sp>
    </p:spTree>
    <p:extLst>
      <p:ext uri="{BB962C8B-B14F-4D97-AF65-F5344CB8AC3E}">
        <p14:creationId xmlns:p14="http://schemas.microsoft.com/office/powerpoint/2010/main" val="4121305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B2231-1294-4327-84DE-9641F546980F}" type="slidenum">
              <a:rPr lang="en-US" smtClean="0"/>
              <a:t>1</a:t>
            </a:fld>
            <a:endParaRPr lang="en-US"/>
          </a:p>
        </p:txBody>
      </p:sp>
    </p:spTree>
    <p:extLst>
      <p:ext uri="{BB962C8B-B14F-4D97-AF65-F5344CB8AC3E}">
        <p14:creationId xmlns:p14="http://schemas.microsoft.com/office/powerpoint/2010/main" val="695532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Check if they have the file downloaded</a:t>
            </a:r>
          </a:p>
          <a:p>
            <a:pPr marL="171450" indent="-171450">
              <a:buFont typeface="Arial" panose="020B0604020202020204" pitchFamily="34" charset="0"/>
              <a:buChar char="•"/>
            </a:pPr>
            <a:r>
              <a:rPr lang="en-US" dirty="0"/>
              <a:t>Check if they all have R and RStudio installed, provide links if not</a:t>
            </a:r>
          </a:p>
          <a:p>
            <a:pPr marL="171450" indent="-171450">
              <a:buFont typeface="Arial" panose="020B0604020202020204" pitchFamily="34" charset="0"/>
              <a:buChar char="•"/>
            </a:pPr>
            <a:r>
              <a:rPr lang="en-US" dirty="0"/>
              <a:t>Check if they have RStudio pulled up and it looks like mine</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AI Lecture</a:t>
            </a:r>
          </a:p>
          <a:p>
            <a:pPr marL="171450" indent="-171450">
              <a:buFont typeface="Arial" panose="020B0604020202020204" pitchFamily="34" charset="0"/>
              <a:buChar char="•"/>
            </a:pPr>
            <a:r>
              <a:rPr lang="en-US" dirty="0"/>
              <a:t>Who has used AI to help code?</a:t>
            </a:r>
          </a:p>
          <a:p>
            <a:pPr marL="628650" lvl="1" indent="-171450">
              <a:buFont typeface="Arial" panose="020B0604020202020204" pitchFamily="34" charset="0"/>
              <a:buChar char="•"/>
            </a:pPr>
            <a:r>
              <a:rPr lang="en-US" dirty="0"/>
              <a:t>I have too!</a:t>
            </a:r>
          </a:p>
          <a:p>
            <a:pPr marL="171450" indent="-171450">
              <a:buFont typeface="Arial" panose="020B0604020202020204" pitchFamily="34" charset="0"/>
              <a:buChar char="•"/>
            </a:pPr>
            <a:r>
              <a:rPr lang="en-US" dirty="0"/>
              <a:t>Can absolutely be a helpful resource</a:t>
            </a:r>
          </a:p>
          <a:p>
            <a:pPr marL="628650" lvl="1" indent="-171450">
              <a:buFont typeface="Arial" panose="020B0604020202020204" pitchFamily="34" charset="0"/>
              <a:buChar char="•"/>
            </a:pPr>
            <a:r>
              <a:rPr lang="en-US" dirty="0"/>
              <a:t>Ex. Error messages</a:t>
            </a:r>
          </a:p>
          <a:p>
            <a:pPr marL="628650" lvl="1" indent="-171450">
              <a:buFont typeface="Arial" panose="020B0604020202020204" pitchFamily="34" charset="0"/>
              <a:buChar char="•"/>
            </a:pPr>
            <a:r>
              <a:rPr lang="en-US" dirty="0"/>
              <a:t>Ex. Find functions to do a specific task that you might not know how to describe concisely</a:t>
            </a:r>
          </a:p>
          <a:p>
            <a:pPr marL="171450" lvl="0" indent="-171450">
              <a:buFont typeface="Arial" panose="020B0604020202020204" pitchFamily="34" charset="0"/>
              <a:buChar char="•"/>
            </a:pPr>
            <a:r>
              <a:rPr lang="en-US" dirty="0"/>
              <a:t>But using AI as a coding aid works best when you have an understanding of the basics of what it’s doing</a:t>
            </a:r>
          </a:p>
          <a:p>
            <a:pPr marL="628650" lvl="1" indent="-171450">
              <a:buFont typeface="Arial" panose="020B0604020202020204" pitchFamily="34" charset="0"/>
              <a:buChar char="•"/>
            </a:pPr>
            <a:r>
              <a:rPr lang="en-US" dirty="0"/>
              <a:t>You can read the output and tell what each section of it is intended to do</a:t>
            </a:r>
          </a:p>
          <a:p>
            <a:pPr marL="171450" lvl="0" indent="-171450">
              <a:buFont typeface="Arial" panose="020B0604020202020204" pitchFamily="34" charset="0"/>
              <a:buChar char="•"/>
            </a:pPr>
            <a:r>
              <a:rPr lang="en-US" dirty="0"/>
              <a:t>An LLM’s job is to generate the most probable string of words that it thinks you want to hear, based on what you give as an input and also its whole bank of training material, mostly from the internet</a:t>
            </a:r>
          </a:p>
          <a:p>
            <a:pPr marL="628650" lvl="1" indent="-171450">
              <a:buFont typeface="Arial" panose="020B0604020202020204" pitchFamily="34" charset="0"/>
              <a:buChar char="•"/>
            </a:pPr>
            <a:r>
              <a:rPr lang="en-US"/>
              <a:t>So </a:t>
            </a:r>
            <a:r>
              <a:rPr lang="en-US" dirty="0"/>
              <a:t>it’s not always right, and it tends to have a habit of making code longer and more redundant than it has to be</a:t>
            </a:r>
          </a:p>
          <a:p>
            <a:pPr marL="171450" lvl="0" indent="-171450">
              <a:buFont typeface="Arial" panose="020B0604020202020204" pitchFamily="34" charset="0"/>
              <a:buChar char="•"/>
            </a:pPr>
            <a:r>
              <a:rPr lang="en-US" dirty="0"/>
              <a:t>So this workshop is going to be working just within R, helping you build the base skills, which you can then use to make informed decisions about integrating AI code</a:t>
            </a:r>
          </a:p>
        </p:txBody>
      </p:sp>
      <p:sp>
        <p:nvSpPr>
          <p:cNvPr id="4" name="Slide Number Placeholder 3"/>
          <p:cNvSpPr>
            <a:spLocks noGrp="1"/>
          </p:cNvSpPr>
          <p:nvPr>
            <p:ph type="sldNum" sz="quarter" idx="5"/>
          </p:nvPr>
        </p:nvSpPr>
        <p:spPr/>
        <p:txBody>
          <a:bodyPr/>
          <a:lstStyle/>
          <a:p>
            <a:fld id="{743B2231-1294-4327-84DE-9641F546980F}" type="slidenum">
              <a:rPr lang="en-US" smtClean="0"/>
              <a:t>3</a:t>
            </a:fld>
            <a:endParaRPr lang="en-US"/>
          </a:p>
        </p:txBody>
      </p:sp>
    </p:spTree>
    <p:extLst>
      <p:ext uri="{BB962C8B-B14F-4D97-AF65-F5344CB8AC3E}">
        <p14:creationId xmlns:p14="http://schemas.microsoft.com/office/powerpoint/2010/main" val="2750289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7DE70D81-82E5-7029-5858-28332921E9CE}"/>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750FB245-0850-DF5D-04B7-A4CBC13009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BEFD13D6-1923-96AB-B4FE-C386111EC8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endParaRPr lang="en-US" dirty="0"/>
          </a:p>
        </p:txBody>
      </p:sp>
    </p:spTree>
    <p:extLst>
      <p:ext uri="{BB962C8B-B14F-4D97-AF65-F5344CB8AC3E}">
        <p14:creationId xmlns:p14="http://schemas.microsoft.com/office/powerpoint/2010/main" val="3235097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a:extLst>
            <a:ext uri="{FF2B5EF4-FFF2-40B4-BE49-F238E27FC236}">
              <a16:creationId xmlns:a16="http://schemas.microsoft.com/office/drawing/2014/main" id="{6B1A8386-01A0-8EF0-5873-43F529E84371}"/>
            </a:ext>
          </a:extLst>
        </p:cNvPr>
        <p:cNvGrpSpPr/>
        <p:nvPr/>
      </p:nvGrpSpPr>
      <p:grpSpPr>
        <a:xfrm>
          <a:off x="0" y="0"/>
          <a:ext cx="0" cy="0"/>
          <a:chOff x="0" y="0"/>
          <a:chExt cx="0" cy="0"/>
        </a:xfrm>
      </p:grpSpPr>
      <p:sp>
        <p:nvSpPr>
          <p:cNvPr id="459" name="Google Shape;459;g54dda1946d_6_322:notes">
            <a:extLst>
              <a:ext uri="{FF2B5EF4-FFF2-40B4-BE49-F238E27FC236}">
                <a16:creationId xmlns:a16="http://schemas.microsoft.com/office/drawing/2014/main" id="{4F63C680-A011-D3F3-B575-02B006AC9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54dda1946d_6_322:notes">
            <a:extLst>
              <a:ext uri="{FF2B5EF4-FFF2-40B4-BE49-F238E27FC236}">
                <a16:creationId xmlns:a16="http://schemas.microsoft.com/office/drawing/2014/main" id="{3FF085FA-BE31-6D2C-1286-963C6FA426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994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8665" y="1760600"/>
            <a:ext cx="10058400" cy="2178764"/>
          </a:xfrm>
        </p:spPr>
        <p:txBody>
          <a:bodyPr anchor="b">
            <a:normAutofit/>
          </a:bodyPr>
          <a:lstStyle>
            <a:lvl1pPr algn="ctr">
              <a:lnSpc>
                <a:spcPct val="85000"/>
              </a:lnSpc>
              <a:defRPr sz="6000" spc="-50" baseline="0">
                <a:solidFill>
                  <a:schemeClr val="tx1">
                    <a:lumMod val="75000"/>
                    <a:lumOff val="25000"/>
                  </a:schemeClr>
                </a:solidFill>
                <a:latin typeface="+mj-lt"/>
              </a:defRPr>
            </a:lvl1pPr>
          </a:lstStyle>
          <a:p>
            <a:r>
              <a:rPr lang="en-US" dirty="0"/>
              <a:t>Click to edit Master title style</a:t>
            </a:r>
          </a:p>
        </p:txBody>
      </p:sp>
      <p:sp>
        <p:nvSpPr>
          <p:cNvPr id="3" name="Subtitle 2"/>
          <p:cNvSpPr>
            <a:spLocks noGrp="1"/>
          </p:cNvSpPr>
          <p:nvPr>
            <p:ph type="subTitle" idx="1"/>
          </p:nvPr>
        </p:nvSpPr>
        <p:spPr>
          <a:xfrm>
            <a:off x="1098665" y="4561085"/>
            <a:ext cx="10058400" cy="1369197"/>
          </a:xfrm>
        </p:spPr>
        <p:txBody>
          <a:bodyPr lIns="91440" rIns="91440">
            <a:normAutofit/>
          </a:bodyPr>
          <a:lstStyle>
            <a:lvl1pPr marL="0" indent="0" algn="ctr">
              <a:lnSpc>
                <a:spcPct val="90000"/>
              </a:lnSpc>
              <a:buNone/>
              <a:defRPr sz="20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6" name="Slide Number Placeholder 5"/>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6704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7101C2A3-3C26-4E47-BB8B-21EBD5971CC9}"/>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Tree>
    <p:extLst>
      <p:ext uri="{BB962C8B-B14F-4D97-AF65-F5344CB8AC3E}">
        <p14:creationId xmlns:p14="http://schemas.microsoft.com/office/powerpoint/2010/main" val="1712135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3175" y="6400800"/>
            <a:ext cx="12188825"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gn="ct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lgn="ctr">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Slide Number Placeholder 5">
            <a:extLst>
              <a:ext uri="{FF2B5EF4-FFF2-40B4-BE49-F238E27FC236}">
                <a16:creationId xmlns:a16="http://schemas.microsoft.com/office/drawing/2014/main" id="{4809F2DE-123B-42C7-80DE-E4264BFB17BE}"/>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Tree>
    <p:extLst>
      <p:ext uri="{BB962C8B-B14F-4D97-AF65-F5344CB8AC3E}">
        <p14:creationId xmlns:p14="http://schemas.microsoft.com/office/powerpoint/2010/main" val="919191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7278" y="1950098"/>
            <a:ext cx="4937760" cy="391899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950097"/>
            <a:ext cx="4937760" cy="391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F799986C-866A-4CC6-A9A6-0C68974507A4}"/>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10" name="Title Placeholder 1">
            <a:extLst>
              <a:ext uri="{FF2B5EF4-FFF2-40B4-BE49-F238E27FC236}">
                <a16:creationId xmlns:a16="http://schemas.microsoft.com/office/drawing/2014/main" id="{C0EF6634-B59E-47F4-B24E-AF60081D6194}"/>
              </a:ext>
            </a:extLst>
          </p:cNvPr>
          <p:cNvSpPr>
            <a:spLocks noGrp="1"/>
          </p:cNvSpPr>
          <p:nvPr>
            <p:ph type="title"/>
          </p:nvPr>
        </p:nvSpPr>
        <p:spPr>
          <a:xfrm>
            <a:off x="1097280" y="286604"/>
            <a:ext cx="10058400" cy="1318262"/>
          </a:xfrm>
          <a:prstGeom prst="rect">
            <a:avLst/>
          </a:prstGeom>
        </p:spPr>
        <p:txBody>
          <a:bodyPr vert="horz" lIns="91440" tIns="45720" rIns="91440" bIns="45720" rtlCol="0" anchor="b">
            <a:normAutofit/>
          </a:bodyPr>
          <a:lstStyle/>
          <a:p>
            <a:r>
              <a:rPr lang="en-US" dirty="0"/>
              <a:t>Click to edit Master title style</a:t>
            </a:r>
          </a:p>
        </p:txBody>
      </p:sp>
    </p:spTree>
    <p:extLst>
      <p:ext uri="{BB962C8B-B14F-4D97-AF65-F5344CB8AC3E}">
        <p14:creationId xmlns:p14="http://schemas.microsoft.com/office/powerpoint/2010/main" val="3900140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544035FF-606E-4DF2-95E4-02031DDC5D04}"/>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12" name="Title Placeholder 1">
            <a:extLst>
              <a:ext uri="{FF2B5EF4-FFF2-40B4-BE49-F238E27FC236}">
                <a16:creationId xmlns:a16="http://schemas.microsoft.com/office/drawing/2014/main" id="{7713E513-4003-4ECC-8FD4-0A6130BC831C}"/>
              </a:ext>
            </a:extLst>
          </p:cNvPr>
          <p:cNvSpPr>
            <a:spLocks noGrp="1"/>
          </p:cNvSpPr>
          <p:nvPr>
            <p:ph type="title"/>
          </p:nvPr>
        </p:nvSpPr>
        <p:spPr>
          <a:xfrm>
            <a:off x="1097280" y="286604"/>
            <a:ext cx="10058400" cy="1318262"/>
          </a:xfrm>
          <a:prstGeom prst="rect">
            <a:avLst/>
          </a:prstGeom>
        </p:spPr>
        <p:txBody>
          <a:bodyPr vert="horz" lIns="91440" tIns="45720" rIns="91440" bIns="45720" rtlCol="0" anchor="b">
            <a:normAutofit/>
          </a:bodyPr>
          <a:lstStyle/>
          <a:p>
            <a:r>
              <a:rPr lang="en-US" dirty="0"/>
              <a:t>Click to edit Master title style</a:t>
            </a:r>
          </a:p>
        </p:txBody>
      </p:sp>
    </p:spTree>
    <p:extLst>
      <p:ext uri="{BB962C8B-B14F-4D97-AF65-F5344CB8AC3E}">
        <p14:creationId xmlns:p14="http://schemas.microsoft.com/office/powerpoint/2010/main" val="4057845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25B7A255-C947-4CB6-987B-8B9EAB8763D3}"/>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5" name="Footer Placeholder 5">
            <a:extLst>
              <a:ext uri="{FF2B5EF4-FFF2-40B4-BE49-F238E27FC236}">
                <a16:creationId xmlns:a16="http://schemas.microsoft.com/office/drawing/2014/main" id="{B50D7D39-F65A-4928-B047-EC74537CC41A}"/>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8" name="Picture 7" descr="A picture containing ax, vector graphics, tool&#10;&#10;Description automatically generated">
            <a:extLst>
              <a:ext uri="{FF2B5EF4-FFF2-40B4-BE49-F238E27FC236}">
                <a16:creationId xmlns:a16="http://schemas.microsoft.com/office/drawing/2014/main" id="{FED7AEC6-C02D-4A1D-A9D2-93BA586335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538933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Slide Number Placeholder 5">
            <a:extLst>
              <a:ext uri="{FF2B5EF4-FFF2-40B4-BE49-F238E27FC236}">
                <a16:creationId xmlns:a16="http://schemas.microsoft.com/office/drawing/2014/main" id="{EDB28033-0FF2-488E-98A9-A50E3EA1801C}"/>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9" name="Footer Placeholder 5">
            <a:extLst>
              <a:ext uri="{FF2B5EF4-FFF2-40B4-BE49-F238E27FC236}">
                <a16:creationId xmlns:a16="http://schemas.microsoft.com/office/drawing/2014/main" id="{346AB3B2-C05C-4203-9161-C38CFA80FD3C}"/>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11" name="Picture 10" descr="A picture containing ax, vector graphics, tool&#10;&#10;Description automatically generated">
            <a:extLst>
              <a:ext uri="{FF2B5EF4-FFF2-40B4-BE49-F238E27FC236}">
                <a16:creationId xmlns:a16="http://schemas.microsoft.com/office/drawing/2014/main" id="{28630407-526B-4BBA-92C3-EEC7AF0413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2092504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Slide Number Placeholder 5">
            <a:extLst>
              <a:ext uri="{FF2B5EF4-FFF2-40B4-BE49-F238E27FC236}">
                <a16:creationId xmlns:a16="http://schemas.microsoft.com/office/drawing/2014/main" id="{C12457F3-EB9A-4201-8AAA-5E7460EED848}"/>
              </a:ext>
            </a:extLst>
          </p:cNvPr>
          <p:cNvSpPr>
            <a:spLocks noGrp="1"/>
          </p:cNvSpPr>
          <p:nvPr>
            <p:ph type="sldNum" sz="quarter" idx="12"/>
          </p:nvPr>
        </p:nvSpPr>
        <p:spPr>
          <a:xfrm>
            <a:off x="10805527" y="6446837"/>
            <a:ext cx="1312025" cy="365125"/>
          </a:xfrm>
          <a:prstGeom prst="rect">
            <a:avLst/>
          </a:prstGeom>
        </p:spPr>
        <p:txBody>
          <a:bodyPr/>
          <a:lstStyle>
            <a:lvl1pPr>
              <a:defRPr>
                <a:solidFill>
                  <a:schemeClr val="tx1"/>
                </a:solidFill>
              </a:defRPr>
            </a:lvl1pPr>
          </a:lstStyle>
          <a:p>
            <a:fld id="{72D68BE1-19F6-402D-9E75-4E3BB4A747F9}" type="slidenum">
              <a:rPr lang="en-US" smtClean="0"/>
              <a:pPr/>
              <a:t>‹#›</a:t>
            </a:fld>
            <a:endParaRPr lang="en-US"/>
          </a:p>
        </p:txBody>
      </p:sp>
      <p:sp>
        <p:nvSpPr>
          <p:cNvPr id="11" name="Footer Placeholder 5">
            <a:extLst>
              <a:ext uri="{FF2B5EF4-FFF2-40B4-BE49-F238E27FC236}">
                <a16:creationId xmlns:a16="http://schemas.microsoft.com/office/drawing/2014/main" id="{2B105599-BEA2-49AE-ABE6-132C37D53E68}"/>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a:t>
            </a:r>
            <a:r>
              <a:rPr lang="en-US" sz="1600" dirty="0">
                <a:solidFill>
                  <a:schemeClr val="tx1"/>
                </a:solidFill>
              </a:rPr>
              <a:t>		digi@uga.edu</a:t>
            </a:r>
          </a:p>
        </p:txBody>
      </p:sp>
      <p:pic>
        <p:nvPicPr>
          <p:cNvPr id="12" name="Picture 11" descr="A picture containing ax, vector graphics, tool&#10;&#10;Description automatically generated">
            <a:extLst>
              <a:ext uri="{FF2B5EF4-FFF2-40B4-BE49-F238E27FC236}">
                <a16:creationId xmlns:a16="http://schemas.microsoft.com/office/drawing/2014/main" id="{E5DDE7DB-8CA4-4EEE-9175-92A7EE20CC0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2444383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1"/>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Slide Number Placeholder 5">
            <a:extLst>
              <a:ext uri="{FF2B5EF4-FFF2-40B4-BE49-F238E27FC236}">
                <a16:creationId xmlns:a16="http://schemas.microsoft.com/office/drawing/2014/main" id="{5B4A9F66-99C1-4B0E-BF26-A48FFC34EE2A}"/>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12" name="Footer Placeholder 5">
            <a:extLst>
              <a:ext uri="{FF2B5EF4-FFF2-40B4-BE49-F238E27FC236}">
                <a16:creationId xmlns:a16="http://schemas.microsoft.com/office/drawing/2014/main" id="{7B3DF220-8B01-4A72-AE39-088BAEFCFCD7}"/>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13" name="Picture 12" descr="A picture containing ax, vector graphics, tool&#10;&#10;Description automatically generated">
            <a:extLst>
              <a:ext uri="{FF2B5EF4-FFF2-40B4-BE49-F238E27FC236}">
                <a16:creationId xmlns:a16="http://schemas.microsoft.com/office/drawing/2014/main" id="{DB826C57-8B95-43D0-9C8E-E40B5E94B6B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3571294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a:extLst>
              <a:ext uri="{FF2B5EF4-FFF2-40B4-BE49-F238E27FC236}">
                <a16:creationId xmlns:a16="http://schemas.microsoft.com/office/drawing/2014/main" id="{135F8964-4153-4104-9134-114C5001906E}"/>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6" name="Footer Placeholder 5">
            <a:extLst>
              <a:ext uri="{FF2B5EF4-FFF2-40B4-BE49-F238E27FC236}">
                <a16:creationId xmlns:a16="http://schemas.microsoft.com/office/drawing/2014/main" id="{43617953-44C1-48B3-83FD-24CA734B7836}"/>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9" name="Picture 8" descr="A picture containing ax, vector graphics, tool&#10;&#10;Description automatically generated">
            <a:extLst>
              <a:ext uri="{FF2B5EF4-FFF2-40B4-BE49-F238E27FC236}">
                <a16:creationId xmlns:a16="http://schemas.microsoft.com/office/drawing/2014/main" id="{634D402F-8A5A-4DDA-ACCE-355DC96467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3758468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5">
            <a:extLst>
              <a:ext uri="{FF2B5EF4-FFF2-40B4-BE49-F238E27FC236}">
                <a16:creationId xmlns:a16="http://schemas.microsoft.com/office/drawing/2014/main" id="{9C49034E-70CC-4DF4-8240-7F2EB51CCB8D}"/>
              </a:ext>
            </a:extLst>
          </p:cNvPr>
          <p:cNvSpPr>
            <a:spLocks noGrp="1"/>
          </p:cNvSpPr>
          <p:nvPr>
            <p:ph type="sldNum" sz="quarter" idx="12"/>
          </p:nvPr>
        </p:nvSpPr>
        <p:spPr>
          <a:xfrm>
            <a:off x="10805527" y="6446837"/>
            <a:ext cx="1312025" cy="365125"/>
          </a:xfrm>
          <a:prstGeom prst="rect">
            <a:avLst/>
          </a:prstGeom>
        </p:spPr>
        <p:txBody>
          <a:bodyPr/>
          <a:lstStyle/>
          <a:p>
            <a:fld id="{72D68BE1-19F6-402D-9E75-4E3BB4A747F9}" type="slidenum">
              <a:rPr lang="en-US" smtClean="0"/>
              <a:t>‹#›</a:t>
            </a:fld>
            <a:endParaRPr lang="en-US"/>
          </a:p>
        </p:txBody>
      </p:sp>
      <p:sp>
        <p:nvSpPr>
          <p:cNvPr id="11" name="Footer Placeholder 5">
            <a:extLst>
              <a:ext uri="{FF2B5EF4-FFF2-40B4-BE49-F238E27FC236}">
                <a16:creationId xmlns:a16="http://schemas.microsoft.com/office/drawing/2014/main" id="{8063CC0B-CCC3-4C42-A7B4-28C79035AFCC}"/>
              </a:ext>
            </a:extLst>
          </p:cNvPr>
          <p:cNvSpPr>
            <a:spLocks noGrp="1"/>
          </p:cNvSpPr>
          <p:nvPr>
            <p:ph type="ftr" sz="quarter" idx="11"/>
          </p:nvPr>
        </p:nvSpPr>
        <p:spPr>
          <a:xfrm>
            <a:off x="838200" y="6440329"/>
            <a:ext cx="10515600" cy="365125"/>
          </a:xfrm>
          <a:prstGeom prst="rect">
            <a:avLst/>
          </a:prstGeom>
        </p:spPr>
        <p:txBody>
          <a:bodyPr/>
          <a:lstStyle/>
          <a:p>
            <a:r>
              <a:rPr lang="en-US" sz="1600" dirty="0"/>
              <a:t>@DigiLab_UGA	 												digi@uga.edu</a:t>
            </a:r>
          </a:p>
        </p:txBody>
      </p:sp>
      <p:pic>
        <p:nvPicPr>
          <p:cNvPr id="12" name="Picture 11" descr="A picture containing ax, vector graphics, tool&#10;&#10;Description automatically generated">
            <a:extLst>
              <a:ext uri="{FF2B5EF4-FFF2-40B4-BE49-F238E27FC236}">
                <a16:creationId xmlns:a16="http://schemas.microsoft.com/office/drawing/2014/main" id="{337F9933-3485-48DC-A0FE-7D78EEE7D5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12689" y="6461871"/>
            <a:ext cx="396027" cy="322039"/>
          </a:xfrm>
          <a:prstGeom prst="rect">
            <a:avLst/>
          </a:prstGeom>
        </p:spPr>
      </p:pic>
    </p:spTree>
    <p:extLst>
      <p:ext uri="{BB962C8B-B14F-4D97-AF65-F5344CB8AC3E}">
        <p14:creationId xmlns:p14="http://schemas.microsoft.com/office/powerpoint/2010/main" val="2072013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960000" y="593367"/>
            <a:ext cx="7399600" cy="763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5" name="Google Shape;55;p7"/>
          <p:cNvSpPr txBox="1">
            <a:spLocks noGrp="1"/>
          </p:cNvSpPr>
          <p:nvPr>
            <p:ph type="subTitle" idx="1"/>
          </p:nvPr>
        </p:nvSpPr>
        <p:spPr>
          <a:xfrm>
            <a:off x="960000" y="2202767"/>
            <a:ext cx="5726400" cy="28452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extLst>
      <p:ext uri="{BB962C8B-B14F-4D97-AF65-F5344CB8AC3E}">
        <p14:creationId xmlns:p14="http://schemas.microsoft.com/office/powerpoint/2010/main" val="479530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 y="6400800"/>
            <a:ext cx="12192000" cy="457200"/>
          </a:xfrm>
          <a:prstGeom prst="rect">
            <a:avLst/>
          </a:prstGeom>
          <a:solidFill>
            <a:srgbClr val="BA0C2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5" y="6334316"/>
            <a:ext cx="12191985" cy="66484"/>
          </a:xfrm>
          <a:prstGeom prst="rect">
            <a:avLst/>
          </a:prstGeom>
          <a:solidFill>
            <a:srgbClr val="E4002B"/>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4"/>
            <a:ext cx="10058400" cy="13182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937310"/>
            <a:ext cx="10058400" cy="3931784"/>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Twitter: @DigiLab_UGA	 											Email: digi@uga.edu</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2D68BE1-19F6-402D-9E75-4E3BB4A747F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0466629"/>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457200" indent="-274320" algn="l" defTabSz="914400" rtl="0" eaLnBrk="1" latinLnBrk="0" hangingPunct="1">
        <a:lnSpc>
          <a:spcPct val="100000"/>
        </a:lnSpc>
        <a:spcBef>
          <a:spcPts val="1200"/>
        </a:spcBef>
        <a:spcAft>
          <a:spcPts val="200"/>
        </a:spcAft>
        <a:buClr>
          <a:schemeClr val="accent1"/>
        </a:buClr>
        <a:buSzPct val="100000"/>
        <a:buFont typeface="Arial" panose="020B0604020202020204" pitchFamily="34" charset="0"/>
        <a:buChar char="•"/>
        <a:defRPr sz="2200" kern="1200">
          <a:solidFill>
            <a:schemeClr val="tx1">
              <a:lumMod val="75000"/>
              <a:lumOff val="25000"/>
            </a:schemeClr>
          </a:solidFill>
          <a:latin typeface="+mn-lt"/>
          <a:ea typeface="+mn-ea"/>
          <a:cs typeface="+mn-cs"/>
        </a:defRPr>
      </a:lvl1pPr>
      <a:lvl2pPr marL="822960" indent="-27432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1188720" indent="-18288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554480" indent="-182880" algn="l" defTabSz="914400" rtl="0" eaLnBrk="1" latinLnBrk="0" hangingPunct="1">
        <a:lnSpc>
          <a:spcPct val="10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1828800" indent="-18288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cran.r-project.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tinyurl.com/R-data-science" TargetMode="External"/><Relationship Id="rId4" Type="http://schemas.openxmlformats.org/officeDocument/2006/relationships/hyperlink" Target="https://posit.co/download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uga.libwizard.com/f/osds" TargetMode="External"/><Relationship Id="rId2" Type="http://schemas.openxmlformats.org/officeDocument/2006/relationships/hyperlink" Target="https://guides.libs.uga.edu/data-services/training/workshop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uides.libs.uga.edu/data-services/training/workshop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calendar.libs.uga.edu/appointments/osds"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guides.libs.uga.edu/data-services/" TargetMode="External"/><Relationship Id="rId7" Type="http://schemas.openxmlformats.org/officeDocument/2006/relationships/hyperlink" Target="https://www.libs.uga.edu/datastudio"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guides.libs.uga.edu/data-services/data-analysis/resources" TargetMode="External"/><Relationship Id="rId5" Type="http://schemas.openxmlformats.org/officeDocument/2006/relationships/hyperlink" Target="https://guides.libs.uga.edu/data-services/training/workshops" TargetMode="External"/><Relationship Id="rId4" Type="http://schemas.openxmlformats.org/officeDocument/2006/relationships/hyperlink" Target="https://calendar.libs.uga.edu/appointments/osd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54F89-A816-4B12-9807-13C2B7BBE632}"/>
              </a:ext>
            </a:extLst>
          </p:cNvPr>
          <p:cNvSpPr>
            <a:spLocks noGrp="1"/>
          </p:cNvSpPr>
          <p:nvPr>
            <p:ph type="ctrTitle"/>
          </p:nvPr>
        </p:nvSpPr>
        <p:spPr>
          <a:xfrm>
            <a:off x="1433252" y="1605469"/>
            <a:ext cx="9325495" cy="2178764"/>
          </a:xfrm>
        </p:spPr>
        <p:txBody>
          <a:bodyPr>
            <a:normAutofit/>
          </a:bodyPr>
          <a:lstStyle/>
          <a:p>
            <a:r>
              <a:rPr lang="en-US" sz="6600" dirty="0"/>
              <a:t>Intro to R </a:t>
            </a:r>
            <a:br>
              <a:rPr lang="en-US" sz="6600" dirty="0"/>
            </a:br>
            <a:r>
              <a:rPr lang="en-US" sz="6600" dirty="0"/>
              <a:t>for Data Science</a:t>
            </a:r>
          </a:p>
        </p:txBody>
      </p:sp>
      <p:sp>
        <p:nvSpPr>
          <p:cNvPr id="3" name="Subtitle 2">
            <a:extLst>
              <a:ext uri="{FF2B5EF4-FFF2-40B4-BE49-F238E27FC236}">
                <a16:creationId xmlns:a16="http://schemas.microsoft.com/office/drawing/2014/main" id="{12B3B62A-19BF-4C40-9292-719216720A21}"/>
              </a:ext>
            </a:extLst>
          </p:cNvPr>
          <p:cNvSpPr>
            <a:spLocks noGrp="1"/>
          </p:cNvSpPr>
          <p:nvPr>
            <p:ph type="subTitle" idx="1"/>
          </p:nvPr>
        </p:nvSpPr>
        <p:spPr>
          <a:xfrm>
            <a:off x="1066799" y="4630096"/>
            <a:ext cx="10058400" cy="1369197"/>
          </a:xfrm>
        </p:spPr>
        <p:txBody>
          <a:bodyPr anchor="ctr">
            <a:normAutofit/>
          </a:bodyPr>
          <a:lstStyle/>
          <a:p>
            <a:r>
              <a:rPr lang="en-US" sz="1600" kern="200" cap="none" spc="100" dirty="0">
                <a:latin typeface="Merriweather Light 18pt" pitchFamily="2" charset="0"/>
                <a:ea typeface="Merriweather Light 18pt" pitchFamily="2" charset="0"/>
                <a:cs typeface="Merriweather Light 18pt" pitchFamily="2" charset="0"/>
              </a:rPr>
              <a:t>Keiko Bridwell, Ph.D.</a:t>
            </a:r>
          </a:p>
          <a:p>
            <a:r>
              <a:rPr lang="en-US" sz="1600" kern="200" cap="none" spc="100" dirty="0">
                <a:latin typeface="Merriweather Light 18pt" pitchFamily="2" charset="0"/>
                <a:ea typeface="Merriweather Light 18pt" pitchFamily="2" charset="0"/>
                <a:cs typeface="Merriweather Light 18pt" pitchFamily="2" charset="0"/>
              </a:rPr>
              <a:t>Open Scholarship and Data Services</a:t>
            </a:r>
          </a:p>
          <a:p>
            <a:r>
              <a:rPr lang="en-US" sz="1600" kern="200" cap="none" spc="100" dirty="0">
                <a:latin typeface="Merriweather Light 18pt" pitchFamily="2" charset="0"/>
                <a:ea typeface="Merriweather Light 18pt" pitchFamily="2" charset="0"/>
                <a:cs typeface="Merriweather Light 18pt" pitchFamily="2" charset="0"/>
              </a:rPr>
              <a:t>AI &amp; Data Studio, October 1, 2026</a:t>
            </a:r>
          </a:p>
        </p:txBody>
      </p:sp>
      <p:sp>
        <p:nvSpPr>
          <p:cNvPr id="4" name="Slide Number Placeholder 3">
            <a:extLst>
              <a:ext uri="{FF2B5EF4-FFF2-40B4-BE49-F238E27FC236}">
                <a16:creationId xmlns:a16="http://schemas.microsoft.com/office/drawing/2014/main" id="{14F22A25-F8BE-4177-A005-E1AAA2D777DA}"/>
              </a:ext>
            </a:extLst>
          </p:cNvPr>
          <p:cNvSpPr>
            <a:spLocks noGrp="1"/>
          </p:cNvSpPr>
          <p:nvPr>
            <p:ph type="sldNum" sz="quarter" idx="12"/>
          </p:nvPr>
        </p:nvSpPr>
        <p:spPr/>
        <p:txBody>
          <a:bodyPr/>
          <a:lstStyle/>
          <a:p>
            <a:fld id="{72D68BE1-19F6-402D-9E75-4E3BB4A747F9}" type="slidenum">
              <a:rPr lang="en-US" smtClean="0"/>
              <a:t>1</a:t>
            </a:fld>
            <a:endParaRPr lang="en-US"/>
          </a:p>
        </p:txBody>
      </p:sp>
      <p:pic>
        <p:nvPicPr>
          <p:cNvPr id="6" name="Picture 5">
            <a:extLst>
              <a:ext uri="{FF2B5EF4-FFF2-40B4-BE49-F238E27FC236}">
                <a16:creationId xmlns:a16="http://schemas.microsoft.com/office/drawing/2014/main" id="{EBBC6456-78A9-E43C-3CB5-4A6709F9F05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5380" y="249967"/>
            <a:ext cx="3516508" cy="963706"/>
          </a:xfrm>
          <a:prstGeom prst="rect">
            <a:avLst/>
          </a:prstGeom>
        </p:spPr>
      </p:pic>
    </p:spTree>
    <p:extLst>
      <p:ext uri="{BB962C8B-B14F-4D97-AF65-F5344CB8AC3E}">
        <p14:creationId xmlns:p14="http://schemas.microsoft.com/office/powerpoint/2010/main" val="1195851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9C84A-E7BF-90E6-A2B6-96C28D3F2BBA}"/>
              </a:ext>
            </a:extLst>
          </p:cNvPr>
          <p:cNvSpPr>
            <a:spLocks noGrp="1"/>
          </p:cNvSpPr>
          <p:nvPr>
            <p:ph type="title"/>
          </p:nvPr>
        </p:nvSpPr>
        <p:spPr/>
        <p:txBody>
          <a:bodyPr/>
          <a:lstStyle/>
          <a:p>
            <a:r>
              <a:rPr lang="en-US" sz="4000" dirty="0"/>
              <a:t>Topics Covered</a:t>
            </a:r>
            <a:endParaRPr lang="en-US" dirty="0"/>
          </a:p>
        </p:txBody>
      </p:sp>
      <p:sp>
        <p:nvSpPr>
          <p:cNvPr id="3" name="Content Placeholder 2">
            <a:extLst>
              <a:ext uri="{FF2B5EF4-FFF2-40B4-BE49-F238E27FC236}">
                <a16:creationId xmlns:a16="http://schemas.microsoft.com/office/drawing/2014/main" id="{D28FC5FB-793F-7198-FEDC-C08A15B19A69}"/>
              </a:ext>
            </a:extLst>
          </p:cNvPr>
          <p:cNvSpPr>
            <a:spLocks noGrp="1"/>
          </p:cNvSpPr>
          <p:nvPr>
            <p:ph idx="1"/>
          </p:nvPr>
        </p:nvSpPr>
        <p:spPr>
          <a:xfrm>
            <a:off x="1097280" y="1937310"/>
            <a:ext cx="10058400" cy="3402441"/>
          </a:xfrm>
        </p:spPr>
        <p:txBody>
          <a:bodyPr>
            <a:normAutofit/>
          </a:bodyPr>
          <a:lstStyle/>
          <a:p>
            <a:r>
              <a:rPr lang="en-US" sz="1800" kern="200" spc="100" dirty="0">
                <a:latin typeface="Merriweather Light 18pt" pitchFamily="2" charset="0"/>
                <a:ea typeface="Merriweather Light 18pt" pitchFamily="2" charset="0"/>
                <a:cs typeface="Merriweather Light 18pt" pitchFamily="2" charset="0"/>
              </a:rPr>
              <a:t>How to use RStudio</a:t>
            </a:r>
          </a:p>
          <a:p>
            <a:r>
              <a:rPr lang="en-US" sz="1800" kern="200" spc="100" dirty="0">
                <a:latin typeface="Merriweather Light 18pt" pitchFamily="2" charset="0"/>
                <a:ea typeface="Merriweather Light 18pt" pitchFamily="2" charset="0"/>
                <a:cs typeface="Merriweather Light 18pt" pitchFamily="2" charset="0"/>
              </a:rPr>
              <a:t>Reading in data</a:t>
            </a:r>
          </a:p>
          <a:p>
            <a:r>
              <a:rPr lang="en-US" sz="1800" kern="200" spc="100" dirty="0">
                <a:latin typeface="Merriweather Light 18pt" pitchFamily="2" charset="0"/>
                <a:ea typeface="Merriweather Light 18pt" pitchFamily="2" charset="0"/>
                <a:cs typeface="Merriweather Light 18pt" pitchFamily="2" charset="0"/>
              </a:rPr>
              <a:t>Exploring and setting up your data</a:t>
            </a:r>
          </a:p>
          <a:p>
            <a:r>
              <a:rPr lang="en-US" sz="1800" kern="200" spc="100" dirty="0">
                <a:latin typeface="Merriweather Light 18pt" pitchFamily="2" charset="0"/>
                <a:ea typeface="Merriweather Light 18pt" pitchFamily="2" charset="0"/>
                <a:cs typeface="Merriweather Light 18pt" pitchFamily="2" charset="0"/>
              </a:rPr>
              <a:t>Summarizing your data</a:t>
            </a:r>
          </a:p>
          <a:p>
            <a:r>
              <a:rPr lang="en-US" sz="1800" kern="200" spc="100" dirty="0">
                <a:latin typeface="Merriweather Light 18pt" pitchFamily="2" charset="0"/>
                <a:ea typeface="Merriweather Light 18pt" pitchFamily="2" charset="0"/>
                <a:cs typeface="Merriweather Light 18pt" pitchFamily="2" charset="0"/>
              </a:rPr>
              <a:t>Filtering your data</a:t>
            </a:r>
          </a:p>
          <a:p>
            <a:r>
              <a:rPr lang="en-US" sz="1800" kern="200" spc="100" dirty="0">
                <a:latin typeface="Merriweather Light 18pt" pitchFamily="2" charset="0"/>
                <a:ea typeface="Merriweather Light 18pt" pitchFamily="2" charset="0"/>
                <a:cs typeface="Merriweather Light 18pt" pitchFamily="2" charset="0"/>
              </a:rPr>
              <a:t>Creating new columns</a:t>
            </a:r>
          </a:p>
          <a:p>
            <a:endParaRPr lang="en-US" sz="1800" kern="200" spc="100" dirty="0">
              <a:latin typeface="Merriweather Light 18pt" pitchFamily="2" charset="0"/>
              <a:ea typeface="Merriweather Light 18pt" pitchFamily="2" charset="0"/>
              <a:cs typeface="Merriweather Light 18pt" pitchFamily="2" charset="0"/>
            </a:endParaRPr>
          </a:p>
          <a:p>
            <a:endParaRPr lang="en-US" sz="1800" dirty="0">
              <a:latin typeface="Merriweather Light 18pt" pitchFamily="2" charset="0"/>
              <a:ea typeface="Merriweather Light 18pt" pitchFamily="2" charset="0"/>
              <a:cs typeface="Merriweather Light 18pt" pitchFamily="2" charset="0"/>
            </a:endParaRPr>
          </a:p>
        </p:txBody>
      </p:sp>
      <p:sp>
        <p:nvSpPr>
          <p:cNvPr id="4" name="Slide Number Placeholder 3">
            <a:extLst>
              <a:ext uri="{FF2B5EF4-FFF2-40B4-BE49-F238E27FC236}">
                <a16:creationId xmlns:a16="http://schemas.microsoft.com/office/drawing/2014/main" id="{DFCB30E3-D8AB-76A1-85C4-7B35EE025C5D}"/>
              </a:ext>
            </a:extLst>
          </p:cNvPr>
          <p:cNvSpPr>
            <a:spLocks noGrp="1"/>
          </p:cNvSpPr>
          <p:nvPr>
            <p:ph type="sldNum" sz="quarter" idx="12"/>
          </p:nvPr>
        </p:nvSpPr>
        <p:spPr/>
        <p:txBody>
          <a:bodyPr/>
          <a:lstStyle/>
          <a:p>
            <a:fld id="{72D68BE1-19F6-402D-9E75-4E3BB4A747F9}" type="slidenum">
              <a:rPr lang="en-US" smtClean="0"/>
              <a:t>2</a:t>
            </a:fld>
            <a:endParaRPr lang="en-US"/>
          </a:p>
        </p:txBody>
      </p:sp>
    </p:spTree>
    <p:extLst>
      <p:ext uri="{BB962C8B-B14F-4D97-AF65-F5344CB8AC3E}">
        <p14:creationId xmlns:p14="http://schemas.microsoft.com/office/powerpoint/2010/main" val="2435733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C07F1-3A01-60DB-710B-EC28F8A79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9BC968-CD8F-F7F9-E909-0F3D6F918560}"/>
              </a:ext>
            </a:extLst>
          </p:cNvPr>
          <p:cNvSpPr>
            <a:spLocks noGrp="1"/>
          </p:cNvSpPr>
          <p:nvPr>
            <p:ph type="title"/>
          </p:nvPr>
        </p:nvSpPr>
        <p:spPr/>
        <p:txBody>
          <a:bodyPr/>
          <a:lstStyle/>
          <a:p>
            <a:r>
              <a:rPr lang="en-US" sz="4000" dirty="0"/>
              <a:t>Materials</a:t>
            </a:r>
            <a:endParaRPr lang="en-US" dirty="0"/>
          </a:p>
        </p:txBody>
      </p:sp>
      <p:sp>
        <p:nvSpPr>
          <p:cNvPr id="3" name="Content Placeholder 2">
            <a:extLst>
              <a:ext uri="{FF2B5EF4-FFF2-40B4-BE49-F238E27FC236}">
                <a16:creationId xmlns:a16="http://schemas.microsoft.com/office/drawing/2014/main" id="{0178D288-CCBB-76A7-4170-E94B58F3C6E8}"/>
              </a:ext>
            </a:extLst>
          </p:cNvPr>
          <p:cNvSpPr>
            <a:spLocks noGrp="1"/>
          </p:cNvSpPr>
          <p:nvPr>
            <p:ph idx="1"/>
          </p:nvPr>
        </p:nvSpPr>
        <p:spPr>
          <a:xfrm>
            <a:off x="1097280" y="1937310"/>
            <a:ext cx="10058400" cy="3402441"/>
          </a:xfrm>
        </p:spPr>
        <p:txBody>
          <a:bodyPr>
            <a:normAutofit/>
          </a:bodyPr>
          <a:lstStyle/>
          <a:p>
            <a:r>
              <a:rPr lang="en-US" sz="1800" kern="200" spc="100" dirty="0">
                <a:latin typeface="Merriweather Light 18pt" pitchFamily="2" charset="0"/>
                <a:ea typeface="Merriweather Light 18pt" pitchFamily="2" charset="0"/>
                <a:cs typeface="Merriweather Light 18pt" pitchFamily="2" charset="0"/>
              </a:rPr>
              <a:t>Have R and RStudio downloaded and installed on your computer</a:t>
            </a:r>
          </a:p>
          <a:p>
            <a:pPr lvl="1"/>
            <a:r>
              <a:rPr lang="en-US" sz="1400" kern="200" spc="100" dirty="0">
                <a:latin typeface="Merriweather Light 18pt" pitchFamily="2" charset="0"/>
                <a:ea typeface="Merriweather Light 18pt" pitchFamily="2" charset="0"/>
                <a:cs typeface="Merriweather Light 18pt" pitchFamily="2" charset="0"/>
              </a:rPr>
              <a:t>R: </a:t>
            </a:r>
            <a:r>
              <a:rPr lang="en-US" sz="1400" kern="200" spc="100" dirty="0">
                <a:latin typeface="Merriweather Light 18pt" pitchFamily="2" charset="0"/>
                <a:ea typeface="Merriweather Light 18pt" pitchFamily="2" charset="0"/>
                <a:cs typeface="Merriweather Light 18pt" pitchFamily="2" charset="0"/>
                <a:hlinkClick r:id="rId3"/>
              </a:rPr>
              <a:t>https://cran.r-project.org/</a:t>
            </a:r>
            <a:r>
              <a:rPr lang="en-US" sz="1400" kern="200" spc="100" dirty="0">
                <a:latin typeface="Merriweather Light 18pt" pitchFamily="2" charset="0"/>
                <a:ea typeface="Merriweather Light 18pt" pitchFamily="2" charset="0"/>
                <a:cs typeface="Merriweather Light 18pt" pitchFamily="2" charset="0"/>
              </a:rPr>
              <a:t> </a:t>
            </a:r>
          </a:p>
          <a:p>
            <a:pPr lvl="1"/>
            <a:r>
              <a:rPr lang="en-US" sz="1400" kern="200" spc="100" dirty="0">
                <a:latin typeface="Merriweather Light 18pt" pitchFamily="2" charset="0"/>
                <a:ea typeface="Merriweather Light 18pt" pitchFamily="2" charset="0"/>
                <a:cs typeface="Merriweather Light 18pt" pitchFamily="2" charset="0"/>
              </a:rPr>
              <a:t>RStudio: </a:t>
            </a:r>
            <a:r>
              <a:rPr lang="en-US" sz="1400" kern="200" spc="100" dirty="0">
                <a:latin typeface="Merriweather Light 18pt" pitchFamily="2" charset="0"/>
                <a:ea typeface="Merriweather Light 18pt" pitchFamily="2" charset="0"/>
                <a:cs typeface="Merriweather Light 18pt" pitchFamily="2" charset="0"/>
                <a:hlinkClick r:id="rId4"/>
              </a:rPr>
              <a:t>https://posit.co/downloads</a:t>
            </a:r>
            <a:r>
              <a:rPr lang="en-US" sz="1400" kern="200" spc="100" dirty="0">
                <a:latin typeface="Merriweather Light 18pt" pitchFamily="2" charset="0"/>
                <a:ea typeface="Merriweather Light 18pt" pitchFamily="2" charset="0"/>
                <a:cs typeface="Merriweather Light 18pt" pitchFamily="2" charset="0"/>
              </a:rPr>
              <a:t> </a:t>
            </a:r>
          </a:p>
          <a:p>
            <a:r>
              <a:rPr lang="en-US" sz="1800" kern="200" spc="100" dirty="0">
                <a:latin typeface="Merriweather Light 18pt" pitchFamily="2" charset="0"/>
                <a:ea typeface="Merriweather Light 18pt" pitchFamily="2" charset="0"/>
                <a:cs typeface="Merriweather Light 18pt" pitchFamily="2" charset="0"/>
              </a:rPr>
              <a:t>Download workshop data</a:t>
            </a:r>
          </a:p>
          <a:p>
            <a:pPr lvl="1"/>
            <a:r>
              <a:rPr lang="en-US" sz="1400" kern="200" spc="100" dirty="0">
                <a:latin typeface="Merriweather Light 18pt" pitchFamily="2" charset="0"/>
                <a:ea typeface="Merriweather Light 18pt" pitchFamily="2" charset="0"/>
                <a:cs typeface="Merriweather Light 18pt" pitchFamily="2" charset="0"/>
                <a:hlinkClick r:id="rId5"/>
              </a:rPr>
              <a:t>https://tinyurl.com/R-data-science</a:t>
            </a:r>
            <a:r>
              <a:rPr lang="en-US" sz="1400" kern="200" spc="100" dirty="0">
                <a:latin typeface="Merriweather Light 18pt" pitchFamily="2" charset="0"/>
                <a:ea typeface="Merriweather Light 18pt" pitchFamily="2" charset="0"/>
                <a:cs typeface="Merriweather Light 18pt" pitchFamily="2" charset="0"/>
              </a:rPr>
              <a:t> </a:t>
            </a:r>
            <a:endParaRPr lang="en-US" sz="1800" kern="200" spc="100" dirty="0">
              <a:latin typeface="Merriweather Light 18pt" pitchFamily="2" charset="0"/>
              <a:ea typeface="Merriweather Light 18pt" pitchFamily="2" charset="0"/>
              <a:cs typeface="Merriweather Light 18pt" pitchFamily="2" charset="0"/>
            </a:endParaRPr>
          </a:p>
          <a:p>
            <a:endParaRPr lang="en-US" sz="1800" dirty="0">
              <a:latin typeface="Merriweather Light 18pt" pitchFamily="2" charset="0"/>
              <a:ea typeface="Merriweather Light 18pt" pitchFamily="2" charset="0"/>
              <a:cs typeface="Merriweather Light 18pt" pitchFamily="2" charset="0"/>
            </a:endParaRPr>
          </a:p>
        </p:txBody>
      </p:sp>
      <p:sp>
        <p:nvSpPr>
          <p:cNvPr id="4" name="Slide Number Placeholder 3">
            <a:extLst>
              <a:ext uri="{FF2B5EF4-FFF2-40B4-BE49-F238E27FC236}">
                <a16:creationId xmlns:a16="http://schemas.microsoft.com/office/drawing/2014/main" id="{47172DA3-02C0-E257-5D0A-FC396900113A}"/>
              </a:ext>
            </a:extLst>
          </p:cNvPr>
          <p:cNvSpPr>
            <a:spLocks noGrp="1"/>
          </p:cNvSpPr>
          <p:nvPr>
            <p:ph type="sldNum" sz="quarter" idx="12"/>
          </p:nvPr>
        </p:nvSpPr>
        <p:spPr/>
        <p:txBody>
          <a:bodyPr/>
          <a:lstStyle/>
          <a:p>
            <a:fld id="{72D68BE1-19F6-402D-9E75-4E3BB4A747F9}" type="slidenum">
              <a:rPr lang="en-US" smtClean="0"/>
              <a:t>3</a:t>
            </a:fld>
            <a:endParaRPr lang="en-US"/>
          </a:p>
        </p:txBody>
      </p:sp>
    </p:spTree>
    <p:extLst>
      <p:ext uri="{BB962C8B-B14F-4D97-AF65-F5344CB8AC3E}">
        <p14:creationId xmlns:p14="http://schemas.microsoft.com/office/powerpoint/2010/main" val="3407393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E371E-6903-A94C-9DB5-2D16FB02A843}"/>
              </a:ext>
            </a:extLst>
          </p:cNvPr>
          <p:cNvSpPr>
            <a:spLocks noGrp="1"/>
          </p:cNvSpPr>
          <p:nvPr>
            <p:ph type="title"/>
          </p:nvPr>
        </p:nvSpPr>
        <p:spPr/>
        <p:txBody>
          <a:bodyPr>
            <a:normAutofit/>
          </a:bodyPr>
          <a:lstStyle/>
          <a:p>
            <a:r>
              <a:rPr lang="en-US" sz="4000" dirty="0"/>
              <a:t>Upcoming Data Workshops</a:t>
            </a:r>
          </a:p>
        </p:txBody>
      </p:sp>
      <p:sp>
        <p:nvSpPr>
          <p:cNvPr id="3" name="Content Placeholder 2">
            <a:extLst>
              <a:ext uri="{FF2B5EF4-FFF2-40B4-BE49-F238E27FC236}">
                <a16:creationId xmlns:a16="http://schemas.microsoft.com/office/drawing/2014/main" id="{C55B9661-66AE-FAF5-DAFA-20944E5026DC}"/>
              </a:ext>
            </a:extLst>
          </p:cNvPr>
          <p:cNvSpPr>
            <a:spLocks noGrp="1"/>
          </p:cNvSpPr>
          <p:nvPr>
            <p:ph idx="1"/>
          </p:nvPr>
        </p:nvSpPr>
        <p:spPr/>
        <p:txBody>
          <a:bodyPr/>
          <a:lstStyle/>
          <a:p>
            <a:r>
              <a:rPr lang="en-US" sz="1800" kern="200" spc="100" dirty="0">
                <a:latin typeface="Merriweather Light 18pt" pitchFamily="2" charset="0"/>
                <a:ea typeface="Merriweather Light 18pt" pitchFamily="2" charset="0"/>
                <a:cs typeface="Merriweather Light 18pt" pitchFamily="2" charset="0"/>
              </a:rPr>
              <a:t>Working with Data in Excel (Oct 9, 11am)</a:t>
            </a:r>
          </a:p>
          <a:p>
            <a:r>
              <a:rPr lang="en-US" sz="1800" kern="200" spc="100" dirty="0">
                <a:latin typeface="Merriweather Light 18pt" pitchFamily="2" charset="0"/>
                <a:ea typeface="Merriweather Light 18pt" pitchFamily="2" charset="0"/>
                <a:cs typeface="Merriweather Light 18pt" pitchFamily="2" charset="0"/>
              </a:rPr>
              <a:t>Data Wrangling in Python (Oct 16, 11am)</a:t>
            </a:r>
          </a:p>
          <a:p>
            <a:r>
              <a:rPr lang="en-US" sz="1800" b="1" kern="200" spc="100" dirty="0">
                <a:latin typeface="Merriweather Light 18pt" pitchFamily="2" charset="0"/>
                <a:ea typeface="Merriweather Light 18pt" pitchFamily="2" charset="0"/>
                <a:cs typeface="Merriweather Light 18pt" pitchFamily="2" charset="0"/>
              </a:rPr>
              <a:t>Graphing Basics for R Users (Nov 6, 11am)</a:t>
            </a:r>
          </a:p>
          <a:p>
            <a:endParaRPr lang="en-US" dirty="0"/>
          </a:p>
          <a:p>
            <a:pPr marL="182880" indent="0">
              <a:buNone/>
            </a:pPr>
            <a:r>
              <a:rPr lang="en-US" sz="1800" kern="200" spc="100" dirty="0">
                <a:latin typeface="Merriweather Light 18pt" pitchFamily="2" charset="0"/>
                <a:ea typeface="Merriweather Light 18pt" pitchFamily="2" charset="0"/>
                <a:cs typeface="Merriweather Light 18pt" pitchFamily="2" charset="0"/>
                <a:hlinkClick r:id="rId2"/>
              </a:rPr>
              <a:t>Register here</a:t>
            </a:r>
            <a:endParaRPr lang="en-US" sz="1800" kern="200" spc="100" dirty="0">
              <a:latin typeface="Merriweather Light 18pt" pitchFamily="2" charset="0"/>
              <a:ea typeface="Merriweather Light 18pt" pitchFamily="2" charset="0"/>
              <a:cs typeface="Merriweather Light 18pt" pitchFamily="2" charset="0"/>
            </a:endParaRPr>
          </a:p>
          <a:p>
            <a:endParaRPr lang="en-US" sz="1800" kern="200" spc="100" dirty="0">
              <a:latin typeface="Merriweather Light 18pt" pitchFamily="2" charset="0"/>
              <a:ea typeface="Merriweather Light 18pt" pitchFamily="2" charset="0"/>
              <a:cs typeface="Merriweather Light 18pt" pitchFamily="2" charset="0"/>
            </a:endParaRPr>
          </a:p>
          <a:p>
            <a:pPr marL="186262" indent="0">
              <a:buSzPts val="1400"/>
              <a:buNone/>
            </a:pPr>
            <a:r>
              <a:rPr lang="en-US" sz="1800" dirty="0">
                <a:latin typeface="Merriweather Light 18pt" pitchFamily="2" charset="0"/>
                <a:ea typeface="Merriweather Light 18pt" pitchFamily="2" charset="0"/>
                <a:cs typeface="Merriweather Light 18pt" pitchFamily="2" charset="0"/>
              </a:rPr>
              <a:t>Are there any workshops you would like to see offered? </a:t>
            </a:r>
            <a:r>
              <a:rPr lang="en-US" sz="1800" dirty="0">
                <a:latin typeface="Merriweather Light 18pt" pitchFamily="2" charset="0"/>
                <a:ea typeface="Merriweather Light 18pt" pitchFamily="2" charset="0"/>
                <a:cs typeface="Merriweather Light 18pt" pitchFamily="2" charset="0"/>
                <a:hlinkClick r:id="rId3"/>
              </a:rPr>
              <a:t>Let us know!</a:t>
            </a:r>
            <a:endParaRPr lang="en-US" sz="1800" dirty="0">
              <a:latin typeface="Merriweather Light 18pt" pitchFamily="2" charset="0"/>
              <a:ea typeface="Merriweather Light 18pt" pitchFamily="2" charset="0"/>
              <a:cs typeface="Merriweather Light 18pt" pitchFamily="2" charset="0"/>
            </a:endParaRPr>
          </a:p>
          <a:p>
            <a:endParaRPr lang="en-US" sz="1800" kern="200" spc="100" dirty="0">
              <a:latin typeface="Merriweather Light 18pt" pitchFamily="2" charset="0"/>
              <a:ea typeface="Merriweather Light 18pt" pitchFamily="2" charset="0"/>
              <a:cs typeface="Merriweather Light 18pt" pitchFamily="2" charset="0"/>
            </a:endParaRPr>
          </a:p>
        </p:txBody>
      </p:sp>
      <p:sp>
        <p:nvSpPr>
          <p:cNvPr id="4" name="Slide Number Placeholder 3">
            <a:extLst>
              <a:ext uri="{FF2B5EF4-FFF2-40B4-BE49-F238E27FC236}">
                <a16:creationId xmlns:a16="http://schemas.microsoft.com/office/drawing/2014/main" id="{8566B2F2-C9F4-39A1-FF78-C55B34B6DC64}"/>
              </a:ext>
            </a:extLst>
          </p:cNvPr>
          <p:cNvSpPr>
            <a:spLocks noGrp="1"/>
          </p:cNvSpPr>
          <p:nvPr>
            <p:ph type="sldNum" sz="quarter" idx="12"/>
          </p:nvPr>
        </p:nvSpPr>
        <p:spPr/>
        <p:txBody>
          <a:bodyPr/>
          <a:lstStyle/>
          <a:p>
            <a:fld id="{72D68BE1-19F6-402D-9E75-4E3BB4A747F9}" type="slidenum">
              <a:rPr lang="en-US" smtClean="0"/>
              <a:t>4</a:t>
            </a:fld>
            <a:endParaRPr lang="en-US"/>
          </a:p>
        </p:txBody>
      </p:sp>
    </p:spTree>
    <p:extLst>
      <p:ext uri="{BB962C8B-B14F-4D97-AF65-F5344CB8AC3E}">
        <p14:creationId xmlns:p14="http://schemas.microsoft.com/office/powerpoint/2010/main" val="122252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F4074-EE66-3125-478F-B82BF491E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D9D9B-5BAF-4D2E-2F23-BFD8C809AC2A}"/>
              </a:ext>
            </a:extLst>
          </p:cNvPr>
          <p:cNvSpPr>
            <a:spLocks noGrp="1"/>
          </p:cNvSpPr>
          <p:nvPr>
            <p:ph type="title"/>
          </p:nvPr>
        </p:nvSpPr>
        <p:spPr/>
        <p:txBody>
          <a:bodyPr>
            <a:normAutofit/>
          </a:bodyPr>
          <a:lstStyle/>
          <a:p>
            <a:r>
              <a:rPr lang="en-US" sz="4000" dirty="0"/>
              <a:t>Upcoming AI Workshops</a:t>
            </a:r>
          </a:p>
        </p:txBody>
      </p:sp>
      <p:sp>
        <p:nvSpPr>
          <p:cNvPr id="3" name="Content Placeholder 2">
            <a:extLst>
              <a:ext uri="{FF2B5EF4-FFF2-40B4-BE49-F238E27FC236}">
                <a16:creationId xmlns:a16="http://schemas.microsoft.com/office/drawing/2014/main" id="{AE535EB2-BF92-CE4B-C820-0D4172EEF4CF}"/>
              </a:ext>
            </a:extLst>
          </p:cNvPr>
          <p:cNvSpPr>
            <a:spLocks noGrp="1"/>
          </p:cNvSpPr>
          <p:nvPr>
            <p:ph idx="1"/>
          </p:nvPr>
        </p:nvSpPr>
        <p:spPr/>
        <p:txBody>
          <a:bodyPr/>
          <a:lstStyle/>
          <a:p>
            <a:r>
              <a:rPr lang="en-US" sz="1800" kern="200" spc="100" dirty="0">
                <a:latin typeface="Merriweather Light 18pt" pitchFamily="2" charset="0"/>
                <a:ea typeface="Merriweather Light 18pt" pitchFamily="2" charset="0"/>
                <a:cs typeface="Merriweather Light 18pt" pitchFamily="2" charset="0"/>
              </a:rPr>
              <a:t>Using Google Gemini Pro to find Public Datasets (Oct 2, 11am)</a:t>
            </a:r>
          </a:p>
          <a:p>
            <a:r>
              <a:rPr lang="en-US" sz="1800" kern="200" spc="100" dirty="0">
                <a:latin typeface="Merriweather Light 18pt" pitchFamily="2" charset="0"/>
                <a:ea typeface="Merriweather Light 18pt" pitchFamily="2" charset="0"/>
                <a:cs typeface="Merriweather Light 18pt" pitchFamily="2" charset="0"/>
              </a:rPr>
              <a:t>AI Tools for Research (Oct 7, 3pm)</a:t>
            </a:r>
          </a:p>
          <a:p>
            <a:r>
              <a:rPr lang="en-US" sz="1800" kern="200" spc="100" dirty="0">
                <a:latin typeface="Merriweather Light 18pt" pitchFamily="2" charset="0"/>
                <a:ea typeface="Merriweather Light 18pt" pitchFamily="2" charset="0"/>
                <a:cs typeface="Merriweather Light 18pt" pitchFamily="2" charset="0"/>
              </a:rPr>
              <a:t>Crafting Authentic Job Applications with AI Tools (Oct 16, 12:15pm)</a:t>
            </a:r>
          </a:p>
          <a:p>
            <a:r>
              <a:rPr lang="en-US" sz="1800" kern="200" spc="100" dirty="0">
                <a:latin typeface="Merriweather Light 18pt" pitchFamily="2" charset="0"/>
                <a:ea typeface="Merriweather Light 18pt" pitchFamily="2" charset="0"/>
                <a:cs typeface="Merriweather Light 18pt" pitchFamily="2" charset="0"/>
              </a:rPr>
              <a:t>Becoming a Savvy AI User: What Everyone Should Know (Oct 29, 4pm)</a:t>
            </a:r>
          </a:p>
          <a:p>
            <a:r>
              <a:rPr lang="en-US" sz="1800" kern="200" spc="100" dirty="0">
                <a:latin typeface="Merriweather Light 18pt" pitchFamily="2" charset="0"/>
                <a:ea typeface="Merriweather Light 18pt" pitchFamily="2" charset="0"/>
                <a:cs typeface="Merriweather Light 18pt" pitchFamily="2" charset="0"/>
              </a:rPr>
              <a:t>AI Tools in the Workplace (Nov 5, 4pm)</a:t>
            </a:r>
          </a:p>
          <a:p>
            <a:endParaRPr lang="en-US" sz="1800" kern="200" spc="100" dirty="0">
              <a:latin typeface="Merriweather Light 18pt" pitchFamily="2" charset="0"/>
              <a:ea typeface="Merriweather Light 18pt" pitchFamily="2" charset="0"/>
              <a:cs typeface="Merriweather Light 18pt" pitchFamily="2" charset="0"/>
            </a:endParaRPr>
          </a:p>
          <a:p>
            <a:pPr marL="182880" indent="0">
              <a:buNone/>
            </a:pPr>
            <a:r>
              <a:rPr lang="en-US" sz="1800" kern="200" spc="100" dirty="0">
                <a:latin typeface="Merriweather Light 18pt" pitchFamily="2" charset="0"/>
                <a:ea typeface="Merriweather Light 18pt" pitchFamily="2" charset="0"/>
                <a:cs typeface="Merriweather Light 18pt" pitchFamily="2" charset="0"/>
                <a:hlinkClick r:id="rId2"/>
              </a:rPr>
              <a:t>Register here</a:t>
            </a:r>
            <a:endParaRPr lang="en-US" sz="1800" kern="200" spc="100" dirty="0">
              <a:latin typeface="Merriweather Light 18pt" pitchFamily="2" charset="0"/>
              <a:ea typeface="Merriweather Light 18pt" pitchFamily="2" charset="0"/>
              <a:cs typeface="Merriweather Light 18pt" pitchFamily="2" charset="0"/>
            </a:endParaRPr>
          </a:p>
          <a:p>
            <a:endParaRPr lang="en-US" dirty="0"/>
          </a:p>
        </p:txBody>
      </p:sp>
      <p:sp>
        <p:nvSpPr>
          <p:cNvPr id="4" name="Slide Number Placeholder 3">
            <a:extLst>
              <a:ext uri="{FF2B5EF4-FFF2-40B4-BE49-F238E27FC236}">
                <a16:creationId xmlns:a16="http://schemas.microsoft.com/office/drawing/2014/main" id="{3C8CEC3B-8C70-8E37-4366-BFA85018AFCF}"/>
              </a:ext>
            </a:extLst>
          </p:cNvPr>
          <p:cNvSpPr>
            <a:spLocks noGrp="1"/>
          </p:cNvSpPr>
          <p:nvPr>
            <p:ph type="sldNum" sz="quarter" idx="12"/>
          </p:nvPr>
        </p:nvSpPr>
        <p:spPr/>
        <p:txBody>
          <a:bodyPr/>
          <a:lstStyle/>
          <a:p>
            <a:fld id="{72D68BE1-19F6-402D-9E75-4E3BB4A747F9}" type="slidenum">
              <a:rPr lang="en-US" smtClean="0"/>
              <a:t>5</a:t>
            </a:fld>
            <a:endParaRPr lang="en-US"/>
          </a:p>
        </p:txBody>
      </p:sp>
    </p:spTree>
    <p:extLst>
      <p:ext uri="{BB962C8B-B14F-4D97-AF65-F5344CB8AC3E}">
        <p14:creationId xmlns:p14="http://schemas.microsoft.com/office/powerpoint/2010/main" val="1342770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1DA1B27E-4053-2A9B-16CD-A10CACD6E57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48DD41B-75B8-07E5-F70C-56472AAA24D1}"/>
              </a:ext>
            </a:extLst>
          </p:cNvPr>
          <p:cNvSpPr>
            <a:spLocks noGrp="1"/>
          </p:cNvSpPr>
          <p:nvPr>
            <p:ph type="title"/>
          </p:nvPr>
        </p:nvSpPr>
        <p:spPr>
          <a:xfrm>
            <a:off x="1097280" y="286604"/>
            <a:ext cx="10058400" cy="1318262"/>
          </a:xfrm>
        </p:spPr>
        <p:txBody>
          <a:bodyPr anchor="b">
            <a:normAutofit/>
          </a:bodyPr>
          <a:lstStyle/>
          <a:p>
            <a:r>
              <a:rPr lang="en-US" sz="4000" dirty="0"/>
              <a:t>Data Consultations</a:t>
            </a:r>
          </a:p>
        </p:txBody>
      </p:sp>
      <p:sp>
        <p:nvSpPr>
          <p:cNvPr id="10" name="Content Placeholder 2">
            <a:extLst>
              <a:ext uri="{FF2B5EF4-FFF2-40B4-BE49-F238E27FC236}">
                <a16:creationId xmlns:a16="http://schemas.microsoft.com/office/drawing/2014/main" id="{E25F3832-BE75-42B9-C3C8-6D27DB6668A1}"/>
              </a:ext>
            </a:extLst>
          </p:cNvPr>
          <p:cNvSpPr txBox="1">
            <a:spLocks/>
          </p:cNvSpPr>
          <p:nvPr/>
        </p:nvSpPr>
        <p:spPr>
          <a:xfrm>
            <a:off x="1097280" y="1937310"/>
            <a:ext cx="9907604" cy="3950143"/>
          </a:xfrm>
          <a:prstGeom prst="rect">
            <a:avLst/>
          </a:prstGeom>
        </p:spPr>
        <p:txBody>
          <a:bodyPr spcFirstLastPara="1" vert="horz" wrap="square" lIns="91425" tIns="91425" rIns="91425" bIns="91425" rtlCol="0" anchor="t" anchorCtr="0">
            <a:normAutofit fontScale="92500" lnSpcReduction="10000"/>
          </a:bodyPr>
          <a:lstStyle>
            <a:lvl1pPr marL="457200" lvl="0" indent="-274320" algn="l" defTabSz="914400" rtl="0" eaLnBrk="1" latinLnBrk="0" hangingPunct="1">
              <a:lnSpc>
                <a:spcPct val="100000"/>
              </a:lnSpc>
              <a:spcBef>
                <a:spcPts val="0"/>
              </a:spcBef>
              <a:spcAft>
                <a:spcPts val="0"/>
              </a:spcAft>
              <a:buClr>
                <a:schemeClr val="accent1"/>
              </a:buClr>
              <a:buSzPts val="1600"/>
              <a:buFont typeface="Nunito Light"/>
              <a:buChar char="●"/>
              <a:defRPr sz="2200" kern="1200">
                <a:solidFill>
                  <a:schemeClr val="tx1">
                    <a:lumMod val="75000"/>
                    <a:lumOff val="25000"/>
                  </a:schemeClr>
                </a:solidFill>
                <a:latin typeface="+mn-lt"/>
                <a:ea typeface="+mn-ea"/>
                <a:cs typeface="+mn-cs"/>
              </a:defRPr>
            </a:lvl1pPr>
            <a:lvl2pPr marL="822960" lvl="1" indent="-274320" algn="ctr" defTabSz="914400" rtl="0" eaLnBrk="1" latinLnBrk="0" hangingPunct="1">
              <a:lnSpc>
                <a:spcPct val="100000"/>
              </a:lnSpc>
              <a:spcBef>
                <a:spcPts val="0"/>
              </a:spcBef>
              <a:spcAft>
                <a:spcPts val="0"/>
              </a:spcAft>
              <a:buClr>
                <a:srgbClr val="E76A28"/>
              </a:buClr>
              <a:buSzPts val="1600"/>
              <a:buFont typeface="Nunito Light"/>
              <a:buChar char="○"/>
              <a:defRPr sz="1800" kern="1200">
                <a:solidFill>
                  <a:schemeClr val="tx1">
                    <a:lumMod val="75000"/>
                    <a:lumOff val="25000"/>
                  </a:schemeClr>
                </a:solidFill>
                <a:latin typeface="+mn-lt"/>
                <a:ea typeface="+mn-ea"/>
                <a:cs typeface="+mn-cs"/>
              </a:defRPr>
            </a:lvl2pPr>
            <a:lvl3pPr marL="1188720" lvl="2" indent="-182880" algn="ctr" defTabSz="914400" rtl="0" eaLnBrk="1" latinLnBrk="0" hangingPunct="1">
              <a:lnSpc>
                <a:spcPct val="100000"/>
              </a:lnSpc>
              <a:spcBef>
                <a:spcPts val="0"/>
              </a:spcBef>
              <a:spcAft>
                <a:spcPts val="0"/>
              </a:spcAft>
              <a:buClr>
                <a:srgbClr val="E76A28"/>
              </a:buClr>
              <a:buSzPts val="1500"/>
              <a:buFont typeface="Nunito Light"/>
              <a:buChar char="■"/>
              <a:defRPr sz="1600" kern="1200">
                <a:solidFill>
                  <a:schemeClr val="tx1">
                    <a:lumMod val="75000"/>
                    <a:lumOff val="25000"/>
                  </a:schemeClr>
                </a:solidFill>
                <a:latin typeface="+mn-lt"/>
                <a:ea typeface="+mn-ea"/>
                <a:cs typeface="+mn-cs"/>
              </a:defRPr>
            </a:lvl3pPr>
            <a:lvl4pPr marL="1554480" lvl="3" indent="-182880" algn="ctr" defTabSz="914400" rtl="0" eaLnBrk="1" latinLnBrk="0" hangingPunct="1">
              <a:lnSpc>
                <a:spcPct val="100000"/>
              </a:lnSpc>
              <a:spcBef>
                <a:spcPts val="0"/>
              </a:spcBef>
              <a:spcAft>
                <a:spcPts val="0"/>
              </a:spcAft>
              <a:buClr>
                <a:srgbClr val="E76A28"/>
              </a:buClr>
              <a:buSzPts val="1500"/>
              <a:buFont typeface="Nunito Light"/>
              <a:buChar char="●"/>
              <a:defRPr sz="1400" kern="1200">
                <a:solidFill>
                  <a:schemeClr val="tx1">
                    <a:lumMod val="75000"/>
                    <a:lumOff val="25000"/>
                  </a:schemeClr>
                </a:solidFill>
                <a:latin typeface="+mn-lt"/>
                <a:ea typeface="+mn-ea"/>
                <a:cs typeface="+mn-cs"/>
              </a:defRPr>
            </a:lvl4pPr>
            <a:lvl5pPr marL="1828800" lvl="4" indent="-182880" algn="ctr" defTabSz="914400" rtl="0" eaLnBrk="1" latinLnBrk="0" hangingPunct="1">
              <a:lnSpc>
                <a:spcPct val="100000"/>
              </a:lnSpc>
              <a:spcBef>
                <a:spcPts val="0"/>
              </a:spcBef>
              <a:spcAft>
                <a:spcPts val="0"/>
              </a:spcAft>
              <a:buClr>
                <a:srgbClr val="E76A28"/>
              </a:buClr>
              <a:buSzPts val="1400"/>
              <a:buFont typeface="Nunito Light"/>
              <a:buChar char="○"/>
              <a:defRPr sz="1400" kern="1200">
                <a:solidFill>
                  <a:schemeClr val="tx1">
                    <a:lumMod val="75000"/>
                    <a:lumOff val="25000"/>
                  </a:schemeClr>
                </a:solidFill>
                <a:latin typeface="+mn-lt"/>
                <a:ea typeface="+mn-ea"/>
                <a:cs typeface="+mn-cs"/>
              </a:defRPr>
            </a:lvl5pPr>
            <a:lvl6pPr marL="1100000" lvl="5" indent="-228600" algn="ctr" defTabSz="914400" rtl="0" eaLnBrk="1" latinLnBrk="0" hangingPunct="1">
              <a:lnSpc>
                <a:spcPct val="100000"/>
              </a:lnSpc>
              <a:spcBef>
                <a:spcPts val="0"/>
              </a:spcBef>
              <a:spcAft>
                <a:spcPts val="0"/>
              </a:spcAft>
              <a:buClr>
                <a:srgbClr val="999999"/>
              </a:buClr>
              <a:buSzPts val="1400"/>
              <a:buFont typeface="Nunito Light"/>
              <a:buChar char="■"/>
              <a:defRPr sz="1400" kern="1200">
                <a:solidFill>
                  <a:schemeClr val="tx1">
                    <a:lumMod val="75000"/>
                    <a:lumOff val="25000"/>
                  </a:schemeClr>
                </a:solidFill>
                <a:latin typeface="+mn-lt"/>
                <a:ea typeface="+mn-ea"/>
                <a:cs typeface="+mn-cs"/>
              </a:defRPr>
            </a:lvl6pPr>
            <a:lvl7pPr marL="1300000" lvl="6" indent="-228600" algn="ctr" defTabSz="914400" rtl="0" eaLnBrk="1" latinLnBrk="0" hangingPunct="1">
              <a:lnSpc>
                <a:spcPct val="100000"/>
              </a:lnSpc>
              <a:spcBef>
                <a:spcPts val="0"/>
              </a:spcBef>
              <a:spcAft>
                <a:spcPts val="0"/>
              </a:spcAft>
              <a:buClr>
                <a:srgbClr val="999999"/>
              </a:buClr>
              <a:buSzPts val="1300"/>
              <a:buFont typeface="Nunito Light"/>
              <a:buChar char="●"/>
              <a:defRPr sz="1400" kern="1200">
                <a:solidFill>
                  <a:schemeClr val="tx1">
                    <a:lumMod val="75000"/>
                    <a:lumOff val="25000"/>
                  </a:schemeClr>
                </a:solidFill>
                <a:latin typeface="+mn-lt"/>
                <a:ea typeface="+mn-ea"/>
                <a:cs typeface="+mn-cs"/>
              </a:defRPr>
            </a:lvl7pPr>
            <a:lvl8pPr marL="1500000" lvl="7" indent="-228600" algn="ctr" defTabSz="914400" rtl="0" eaLnBrk="1" latinLnBrk="0" hangingPunct="1">
              <a:lnSpc>
                <a:spcPct val="100000"/>
              </a:lnSpc>
              <a:spcBef>
                <a:spcPts val="0"/>
              </a:spcBef>
              <a:spcAft>
                <a:spcPts val="0"/>
              </a:spcAft>
              <a:buClr>
                <a:srgbClr val="999999"/>
              </a:buClr>
              <a:buSzPts val="1300"/>
              <a:buFont typeface="Nunito Light"/>
              <a:buChar char="○"/>
              <a:defRPr sz="1400" kern="1200">
                <a:solidFill>
                  <a:schemeClr val="tx1">
                    <a:lumMod val="75000"/>
                    <a:lumOff val="25000"/>
                  </a:schemeClr>
                </a:solidFill>
                <a:latin typeface="+mn-lt"/>
                <a:ea typeface="+mn-ea"/>
                <a:cs typeface="+mn-cs"/>
              </a:defRPr>
            </a:lvl8pPr>
            <a:lvl9pPr marL="1700000" lvl="8" indent="-228600" algn="ctr" defTabSz="914400" rtl="0" eaLnBrk="1" latinLnBrk="0" hangingPunct="1">
              <a:lnSpc>
                <a:spcPct val="100000"/>
              </a:lnSpc>
              <a:spcBef>
                <a:spcPts val="0"/>
              </a:spcBef>
              <a:spcAft>
                <a:spcPts val="0"/>
              </a:spcAft>
              <a:buClr>
                <a:srgbClr val="999999"/>
              </a:buClr>
              <a:buSzPts val="1400"/>
              <a:buFont typeface="Nunito Light"/>
              <a:buChar char="■"/>
              <a:defRPr sz="1400" kern="1200">
                <a:solidFill>
                  <a:schemeClr val="tx1">
                    <a:lumMod val="75000"/>
                    <a:lumOff val="25000"/>
                  </a:schemeClr>
                </a:solidFill>
                <a:latin typeface="+mn-lt"/>
                <a:ea typeface="+mn-ea"/>
                <a:cs typeface="+mn-cs"/>
              </a:defRPr>
            </a:lvl9pPr>
          </a:lstStyle>
          <a:p>
            <a:pPr>
              <a:spcBef>
                <a:spcPts val="1200"/>
              </a:spcBef>
              <a:spcAft>
                <a:spcPts val="200"/>
              </a:spcAft>
            </a:pPr>
            <a:r>
              <a:rPr lang="en-US" sz="1800" kern="200" spc="100" dirty="0">
                <a:latin typeface="Merriweather Light 18pt" pitchFamily="2" charset="0"/>
                <a:ea typeface="Merriweather Light 18pt" pitchFamily="2" charset="0"/>
                <a:cs typeface="Merriweather Light 18pt" pitchFamily="2" charset="0"/>
                <a:hlinkClick r:id="rId3"/>
              </a:rPr>
              <a:t>https://calendar.libs.uga.edu/appointments/osds</a:t>
            </a:r>
            <a:r>
              <a:rPr lang="en-US" sz="1800" kern="200" spc="100" dirty="0">
                <a:latin typeface="Merriweather Light 18pt" pitchFamily="2" charset="0"/>
                <a:ea typeface="Merriweather Light 18pt" pitchFamily="2" charset="0"/>
                <a:cs typeface="Merriweather Light 18pt" pitchFamily="2" charset="0"/>
              </a:rPr>
              <a:t> </a:t>
            </a:r>
          </a:p>
          <a:p>
            <a:pPr>
              <a:lnSpc>
                <a:spcPct val="110000"/>
              </a:lnSpc>
              <a:spcBef>
                <a:spcPts val="1200"/>
              </a:spcBef>
              <a:spcAft>
                <a:spcPts val="200"/>
              </a:spcAft>
            </a:pPr>
            <a:r>
              <a:rPr lang="en-US" sz="1800" kern="200" spc="100" dirty="0">
                <a:latin typeface="Merriweather Light 18pt" pitchFamily="2" charset="0"/>
                <a:ea typeface="Merriweather Light 18pt" pitchFamily="2" charset="0"/>
                <a:cs typeface="Merriweather Light 18pt" pitchFamily="2" charset="0"/>
              </a:rPr>
              <a:t>Make an appointment to sit down with someone from OSDS and talk about your research</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In person or virtual</a:t>
            </a:r>
          </a:p>
          <a:p>
            <a:pPr>
              <a:lnSpc>
                <a:spcPct val="110000"/>
              </a:lnSpc>
              <a:spcBef>
                <a:spcPts val="200"/>
              </a:spcBef>
              <a:spcAft>
                <a:spcPts val="200"/>
              </a:spcAft>
            </a:pPr>
            <a:r>
              <a:rPr lang="en-US" sz="1800" kern="200" spc="100" dirty="0">
                <a:latin typeface="Merriweather Light 18pt" pitchFamily="2" charset="0"/>
                <a:ea typeface="Merriweather Light 18pt" pitchFamily="2" charset="0"/>
                <a:cs typeface="Merriweather Light 18pt" pitchFamily="2" charset="0"/>
              </a:rPr>
              <a:t>Support for:</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R, Python, Excel, GIS</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Statistical analysis, text analysis, qualitative data analysis</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Data visualization</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Data management planning</a:t>
            </a:r>
          </a:p>
          <a:p>
            <a:pPr>
              <a:lnSpc>
                <a:spcPct val="110000"/>
              </a:lnSpc>
              <a:spcBef>
                <a:spcPts val="200"/>
              </a:spcBef>
              <a:spcAft>
                <a:spcPts val="200"/>
              </a:spcAft>
            </a:pPr>
            <a:r>
              <a:rPr lang="en-US" sz="1800" kern="200" spc="100" dirty="0">
                <a:latin typeface="Merriweather Light 18pt" pitchFamily="2" charset="0"/>
                <a:ea typeface="Merriweather Light 18pt" pitchFamily="2" charset="0"/>
                <a:cs typeface="Merriweather Light 18pt" pitchFamily="2" charset="0"/>
              </a:rPr>
              <a:t>Or attend walk-in hours in the AI &amp; Data Studio</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Tuesdays 10-11 am</a:t>
            </a:r>
          </a:p>
          <a:p>
            <a:pPr lvl="1" algn="l">
              <a:lnSpc>
                <a:spcPct val="110000"/>
              </a:lnSpc>
              <a:spcBef>
                <a:spcPts val="200"/>
              </a:spcBef>
              <a:spcAft>
                <a:spcPts val="400"/>
              </a:spcAft>
            </a:pPr>
            <a:r>
              <a:rPr lang="en-US" sz="1400" kern="200" spc="100" dirty="0">
                <a:latin typeface="Merriweather Light 18pt" pitchFamily="2" charset="0"/>
                <a:ea typeface="Merriweather Light 18pt" pitchFamily="2" charset="0"/>
                <a:cs typeface="Merriweather Light 18pt" pitchFamily="2" charset="0"/>
              </a:rPr>
              <a:t>Thursdays 2-3 pm</a:t>
            </a:r>
          </a:p>
        </p:txBody>
      </p:sp>
    </p:spTree>
    <p:extLst>
      <p:ext uri="{BB962C8B-B14F-4D97-AF65-F5344CB8AC3E}">
        <p14:creationId xmlns:p14="http://schemas.microsoft.com/office/powerpoint/2010/main" val="3992246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1">
          <a:extLst>
            <a:ext uri="{FF2B5EF4-FFF2-40B4-BE49-F238E27FC236}">
              <a16:creationId xmlns:a16="http://schemas.microsoft.com/office/drawing/2014/main" id="{73273BE1-40D0-E5F8-ADD1-24DEC6C285C0}"/>
            </a:ext>
          </a:extLst>
        </p:cNvPr>
        <p:cNvGrpSpPr/>
        <p:nvPr/>
      </p:nvGrpSpPr>
      <p:grpSpPr>
        <a:xfrm>
          <a:off x="0" y="0"/>
          <a:ext cx="0" cy="0"/>
          <a:chOff x="0" y="0"/>
          <a:chExt cx="0" cy="0"/>
        </a:xfrm>
      </p:grpSpPr>
      <p:sp>
        <p:nvSpPr>
          <p:cNvPr id="463" name="Google Shape;463;p42">
            <a:extLst>
              <a:ext uri="{FF2B5EF4-FFF2-40B4-BE49-F238E27FC236}">
                <a16:creationId xmlns:a16="http://schemas.microsoft.com/office/drawing/2014/main" id="{78F72A7B-A276-C6C5-10D0-F712388F5662}"/>
              </a:ext>
            </a:extLst>
          </p:cNvPr>
          <p:cNvSpPr txBox="1">
            <a:spLocks noGrp="1"/>
          </p:cNvSpPr>
          <p:nvPr>
            <p:ph type="subTitle" idx="1"/>
          </p:nvPr>
        </p:nvSpPr>
        <p:spPr>
          <a:xfrm>
            <a:off x="960000" y="2006400"/>
            <a:ext cx="9938909" cy="2845200"/>
          </a:xfrm>
          <a:prstGeom prst="rect">
            <a:avLst/>
          </a:prstGeom>
        </p:spPr>
        <p:txBody>
          <a:bodyPr spcFirstLastPara="1" vert="horz" wrap="square" lIns="121900" tIns="121900" rIns="121900" bIns="121900" rtlCol="0" anchor="t" anchorCtr="0">
            <a:noAutofit/>
          </a:bodyPr>
          <a:lstStyle/>
          <a:p>
            <a:pPr marL="186262" indent="0">
              <a:lnSpc>
                <a:spcPct val="114000"/>
              </a:lnSpc>
              <a:spcBef>
                <a:spcPts val="200"/>
              </a:spcBef>
              <a:spcAft>
                <a:spcPts val="400"/>
              </a:spcAft>
              <a:buSzPts val="1400"/>
              <a:buNone/>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3">
                  <a:extLst>
                    <a:ext uri="{A12FA001-AC4F-418D-AE19-62706E023703}">
                      <ahyp:hlinkClr xmlns:ahyp="http://schemas.microsoft.com/office/drawing/2018/hyperlinkcolor" val="tx"/>
                    </a:ext>
                  </a:extLst>
                </a:hlinkClick>
              </a:rPr>
              <a:t>https://guides.libs.uga.edu/data-services/</a:t>
            </a:r>
            <a:r>
              <a:rPr lang="en-US" sz="2000" dirty="0">
                <a:solidFill>
                  <a:schemeClr val="bg2">
                    <a:lumMod val="25000"/>
                  </a:schemeClr>
                </a:solidFill>
                <a:latin typeface="Merriweather Light 18pt" pitchFamily="2" charset="0"/>
                <a:ea typeface="Merriweather Light 18pt" pitchFamily="2" charset="0"/>
                <a:cs typeface="Merriweather Light 18pt" pitchFamily="2" charset="0"/>
              </a:rPr>
              <a:t> </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 action="ppaction://noaction">
                <a:extLst>
                  <a:ext uri="{A12FA001-AC4F-418D-AE19-62706E023703}">
                    <ahyp:hlinkClr xmlns:ahyp="http://schemas.microsoft.com/office/drawing/2018/hyperlinkcolor" val="tx"/>
                  </a:ext>
                </a:extLst>
              </a:hlinkClick>
            </a:endParaRPr>
          </a:p>
          <a:p>
            <a:pPr>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 action="ppaction://noaction">
                  <a:extLst>
                    <a:ext uri="{A12FA001-AC4F-418D-AE19-62706E023703}">
                      <ahyp:hlinkClr xmlns:ahyp="http://schemas.microsoft.com/office/drawing/2018/hyperlinkcolor" val="tx"/>
                    </a:ext>
                  </a:extLst>
                </a:hlinkClick>
              </a:rPr>
              <a:t>Ask us a question</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endParaRPr>
          </a:p>
          <a:p>
            <a:pPr lvl="0">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4">
                  <a:extLst>
                    <a:ext uri="{A12FA001-AC4F-418D-AE19-62706E023703}">
                      <ahyp:hlinkClr xmlns:ahyp="http://schemas.microsoft.com/office/drawing/2018/hyperlinkcolor" val="tx"/>
                    </a:ext>
                  </a:extLst>
                </a:hlinkClick>
              </a:rPr>
              <a:t>Schedule a consultation</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endParaRPr>
          </a:p>
          <a:p>
            <a:pPr lvl="0">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5">
                  <a:extLst>
                    <a:ext uri="{A12FA001-AC4F-418D-AE19-62706E023703}">
                      <ahyp:hlinkClr xmlns:ahyp="http://schemas.microsoft.com/office/drawing/2018/hyperlinkcolor" val="tx"/>
                    </a:ext>
                  </a:extLst>
                </a:hlinkClick>
              </a:rPr>
              <a:t>Register for a workshop</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endParaRPr>
          </a:p>
          <a:p>
            <a:pPr lvl="0">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6">
                  <a:extLst>
                    <a:ext uri="{A12FA001-AC4F-418D-AE19-62706E023703}">
                      <ahyp:hlinkClr xmlns:ahyp="http://schemas.microsoft.com/office/drawing/2018/hyperlinkcolor" val="tx"/>
                    </a:ext>
                  </a:extLst>
                </a:hlinkClick>
              </a:rPr>
              <a:t>Find resources for learning about tools</a:t>
            </a:r>
            <a:endParaRPr lang="en-US" sz="2000" dirty="0">
              <a:solidFill>
                <a:schemeClr val="bg2">
                  <a:lumMod val="25000"/>
                </a:schemeClr>
              </a:solidFill>
              <a:latin typeface="Merriweather Light 18pt" pitchFamily="2" charset="0"/>
              <a:ea typeface="Merriweather Light 18pt" pitchFamily="2" charset="0"/>
              <a:cs typeface="Merriweather Light 18pt" pitchFamily="2" charset="0"/>
            </a:endParaRPr>
          </a:p>
          <a:p>
            <a:pPr lvl="0">
              <a:lnSpc>
                <a:spcPct val="114000"/>
              </a:lnSpc>
              <a:spcBef>
                <a:spcPts val="200"/>
              </a:spcBef>
              <a:spcAft>
                <a:spcPts val="400"/>
              </a:spcAft>
              <a:buSzPts val="1400"/>
            </a:pPr>
            <a:r>
              <a:rPr lang="en-US" sz="2000" dirty="0">
                <a:solidFill>
                  <a:schemeClr val="bg2">
                    <a:lumMod val="25000"/>
                  </a:schemeClr>
                </a:solidFill>
                <a:latin typeface="Merriweather Light 18pt" pitchFamily="2" charset="0"/>
                <a:ea typeface="Merriweather Light 18pt" pitchFamily="2" charset="0"/>
                <a:cs typeface="Merriweather Light 18pt" pitchFamily="2" charset="0"/>
                <a:hlinkClick r:id="rId7">
                  <a:extLst>
                    <a:ext uri="{A12FA001-AC4F-418D-AE19-62706E023703}">
                      <ahyp:hlinkClr xmlns:ahyp="http://schemas.microsoft.com/office/drawing/2018/hyperlinkcolor" val="tx"/>
                    </a:ext>
                  </a:extLst>
                </a:hlinkClick>
              </a:rPr>
              <a:t>Visit the AI &amp; Data Studio</a:t>
            </a:r>
            <a:endParaRPr sz="2000" dirty="0">
              <a:solidFill>
                <a:schemeClr val="bg2">
                  <a:lumMod val="25000"/>
                </a:schemeClr>
              </a:solidFill>
              <a:latin typeface="Merriweather Light 18pt" pitchFamily="2" charset="0"/>
              <a:ea typeface="Merriweather Light 18pt" pitchFamily="2" charset="0"/>
              <a:cs typeface="Merriweather Light 18pt" pitchFamily="2" charset="0"/>
            </a:endParaRPr>
          </a:p>
        </p:txBody>
      </p:sp>
      <p:sp>
        <p:nvSpPr>
          <p:cNvPr id="23" name="Title 1">
            <a:extLst>
              <a:ext uri="{FF2B5EF4-FFF2-40B4-BE49-F238E27FC236}">
                <a16:creationId xmlns:a16="http://schemas.microsoft.com/office/drawing/2014/main" id="{109083BB-9F0C-6545-2581-C31397A2CBB3}"/>
              </a:ext>
            </a:extLst>
          </p:cNvPr>
          <p:cNvSpPr txBox="1">
            <a:spLocks/>
          </p:cNvSpPr>
          <p:nvPr/>
        </p:nvSpPr>
        <p:spPr>
          <a:xfrm>
            <a:off x="1097280" y="286604"/>
            <a:ext cx="10058400" cy="1318262"/>
          </a:xfrm>
          <a:prstGeom prst="rect">
            <a:avLst/>
          </a:prstGeom>
        </p:spPr>
        <p:txBody>
          <a:bodyPr spcFirstLastPara="1" vert="horz" wrap="square" lIns="91425" tIns="91425" rIns="91425" bIns="91425" rtlCol="0" anchor="b" anchorCtr="0">
            <a:normAutofit/>
          </a:bodyPr>
          <a:lstStyle>
            <a:lvl1pPr lvl="0" algn="l" defTabSz="914400" rtl="0" eaLnBrk="1" latinLnBrk="0" hangingPunct="1">
              <a:lnSpc>
                <a:spcPct val="85000"/>
              </a:lnSpc>
              <a:spcBef>
                <a:spcPts val="0"/>
              </a:spcBef>
              <a:spcAft>
                <a:spcPts val="0"/>
              </a:spcAft>
              <a:buSzPts val="3500"/>
              <a:buNone/>
              <a:defRPr sz="4800" kern="1200" spc="-50" baseline="0">
                <a:solidFill>
                  <a:schemeClr val="tx1">
                    <a:lumMod val="75000"/>
                    <a:lumOff val="25000"/>
                  </a:schemeClr>
                </a:solidFill>
                <a:latin typeface="+mj-lt"/>
                <a:ea typeface="+mj-ea"/>
                <a:cs typeface="+mj-cs"/>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sz="4000" dirty="0"/>
              <a:t>Contact Us</a:t>
            </a:r>
          </a:p>
        </p:txBody>
      </p:sp>
    </p:spTree>
    <p:extLst>
      <p:ext uri="{BB962C8B-B14F-4D97-AF65-F5344CB8AC3E}">
        <p14:creationId xmlns:p14="http://schemas.microsoft.com/office/powerpoint/2010/main" val="8103318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ustom 2">
      <a:majorFont>
        <a:latin typeface="Georgia"/>
        <a:ea typeface=""/>
        <a:cs typeface=""/>
      </a:majorFont>
      <a:minorFont>
        <a:latin typeface="Avenir Next LT Pro Light"/>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3757</TotalTime>
  <Words>541</Words>
  <Application>Microsoft Office PowerPoint</Application>
  <PresentationFormat>Widescreen</PresentationFormat>
  <Paragraphs>74</Paragraphs>
  <Slides>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Aptos</vt:lpstr>
      <vt:lpstr>Arial</vt:lpstr>
      <vt:lpstr>Avenir Next LT Pro Light</vt:lpstr>
      <vt:lpstr>Calibri</vt:lpstr>
      <vt:lpstr>Georgia</vt:lpstr>
      <vt:lpstr>Merriweather Light 18pt</vt:lpstr>
      <vt:lpstr>Nunito Light</vt:lpstr>
      <vt:lpstr>Retrospect</vt:lpstr>
      <vt:lpstr>Intro to R  for Data Science</vt:lpstr>
      <vt:lpstr>Topics Covered</vt:lpstr>
      <vt:lpstr>Materials</vt:lpstr>
      <vt:lpstr>Upcoming Data Workshops</vt:lpstr>
      <vt:lpstr>Upcoming AI Workshops</vt:lpstr>
      <vt:lpstr>Data Consultations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Presentation:  (Possible Subtitle)</dc:title>
  <dc:creator>Keiko Bridwell</dc:creator>
  <cp:lastModifiedBy>Keiko Bridwell</cp:lastModifiedBy>
  <cp:revision>1</cp:revision>
  <dcterms:created xsi:type="dcterms:W3CDTF">2021-09-02T19:34:31Z</dcterms:created>
  <dcterms:modified xsi:type="dcterms:W3CDTF">2026-10-01T15:28:32Z</dcterms:modified>
</cp:coreProperties>
</file>